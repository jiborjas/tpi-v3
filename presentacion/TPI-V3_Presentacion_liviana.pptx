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17.xml.rels" ContentType="application/vnd.openxmlformats-package.relationships+xml"/>
  <Override PartName="/ppt/slides/_rels/slide3.xml.rels" ContentType="application/vnd.openxmlformats-package.relationships+xml"/>
  <Override PartName="/ppt/slides/_rels/slide18.xml.rels" ContentType="application/vnd.openxmlformats-package.relationships+xml"/>
  <Override PartName="/ppt/slides/_rels/slide4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_rels/presentation.xml.rels" ContentType="application/vnd.openxmlformats-package.relationships+xml"/>
  <Override PartName="/ppt/media/image1.jpeg" ContentType="image/jpeg"/>
  <Override PartName="/ppt/media/image10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jpeg" ContentType="image/jpeg"/>
  <Override PartName="/ppt/media/image6.jpeg" ContentType="image/jpeg"/>
  <Override PartName="/ppt/media/image9.png" ContentType="image/png"/>
  <Override PartName="/ppt/media/image13.png" ContentType="image/png"/>
  <Override PartName="/ppt/media/image7.png" ContentType="image/png"/>
  <Override PartName="/ppt/media/image11.png" ContentType="image/png"/>
  <Override PartName="/ppt/media/image8.png" ContentType="image/png"/>
  <Override PartName="/ppt/media/image12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EC62315-BA10-4977-AE65-6F5678F6759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2A6E47E-F503-4C2E-884A-93261AA0221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03CE2E07-ACEE-443C-99D0-7957CBD9FD89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6.jpeg"/><Relationship Id="rId3" Type="http://schemas.openxmlformats.org/officeDocument/2006/relationships/image" Target="../media/image5.jpeg"/><Relationship Id="rId4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"/>
          <p:cNvSpPr/>
          <p:nvPr/>
        </p:nvSpPr>
        <p:spPr>
          <a:xfrm>
            <a:off x="0" y="0"/>
            <a:ext cx="10080000" cy="5670000"/>
          </a:xfrm>
          <a:prstGeom prst="rect">
            <a:avLst/>
          </a:prstGeom>
          <a:solidFill>
            <a:srgbClr val="17365d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" name=""/>
          <p:cNvSpPr txBox="1"/>
          <p:nvPr/>
        </p:nvSpPr>
        <p:spPr>
          <a:xfrm>
            <a:off x="432000" y="612000"/>
            <a:ext cx="9000000" cy="53352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54000" bIns="54000" anchor="t">
            <a:noAutofit/>
          </a:bodyPr>
          <a:p>
            <a:pPr algn="r"/>
            <a:r>
              <a:rPr b="1" lang="en-US" sz="3000" spc="-1" strike="noStrike">
                <a:solidFill>
                  <a:srgbClr val="ffffff"/>
                </a:solidFill>
                <a:latin typeface="Arial"/>
              </a:rPr>
              <a:t>TP Integrador — Variante 3</a:t>
            </a:r>
            <a:endParaRPr b="1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"/>
          <p:cNvSpPr txBox="1"/>
          <p:nvPr/>
        </p:nvSpPr>
        <p:spPr>
          <a:xfrm>
            <a:off x="432000" y="972000"/>
            <a:ext cx="9000000" cy="44820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54000" bIns="54000" anchor="t">
            <a:noAutofit/>
          </a:bodyPr>
          <a:p>
            <a:pPr algn="r"/>
            <a:r>
              <a:rPr b="0" lang="en-US" sz="2400" spc="-1" strike="noStrike">
                <a:solidFill>
                  <a:srgbClr val="d9e6f2"/>
                </a:solidFill>
                <a:latin typeface="Arial"/>
              </a:rPr>
              <a:t>Caja de comandos física para robot Unitree</a:t>
            </a:r>
            <a:endParaRPr b="0" lang="en-US" sz="2400" spc="-1" strike="noStrike">
              <a:solidFill>
                <a:srgbClr val="d9e6f2"/>
              </a:solidFill>
              <a:latin typeface="Arial"/>
            </a:endParaRPr>
          </a:p>
        </p:txBody>
      </p:sp>
      <p:pic>
        <p:nvPicPr>
          <p:cNvPr id="10" name="" descr=""/>
          <p:cNvPicPr/>
          <p:nvPr/>
        </p:nvPicPr>
        <p:blipFill>
          <a:blip r:embed="rId1"/>
          <a:stretch/>
        </p:blipFill>
        <p:spPr>
          <a:xfrm>
            <a:off x="3780000" y="1476000"/>
            <a:ext cx="2520000" cy="3240000"/>
          </a:xfrm>
          <a:prstGeom prst="rect">
            <a:avLst/>
          </a:prstGeom>
          <a:ln w="0">
            <a:noFill/>
          </a:ln>
        </p:spPr>
      </p:pic>
      <p:sp>
        <p:nvSpPr>
          <p:cNvPr id="11" name=""/>
          <p:cNvSpPr txBox="1"/>
          <p:nvPr/>
        </p:nvSpPr>
        <p:spPr>
          <a:xfrm>
            <a:off x="900000" y="4752000"/>
            <a:ext cx="8280000" cy="36432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54000" bIns="54000" anchor="t">
            <a:noAutofit/>
          </a:bodyPr>
          <a:p>
            <a:pPr algn="r"/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Blue Pill · FreeRTOS · UART · ADC · PWM · EXTI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"/>
          <p:cNvSpPr txBox="1"/>
          <p:nvPr/>
        </p:nvSpPr>
        <p:spPr>
          <a:xfrm>
            <a:off x="900000" y="5076000"/>
            <a:ext cx="8280000" cy="29268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54000" bIns="54000" anchor="t">
            <a:noAutofit/>
          </a:bodyPr>
          <a:p>
            <a:pPr algn="r"/>
            <a:r>
              <a:rPr b="0" lang="en-US" sz="1300" spc="-1" strike="noStrike">
                <a:solidFill>
                  <a:srgbClr val="d9e6f2"/>
                </a:solidFill>
                <a:latin typeface="Arial"/>
              </a:rPr>
              <a:t>Borda Rojas y Castiglioni · Julio 2026</a:t>
            </a:r>
            <a:endParaRPr b="0" lang="en-US" sz="1300" spc="-1" strike="noStrike">
              <a:solidFill>
                <a:srgbClr val="d9e6f2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"/>
          <p:cNvSpPr/>
          <p:nvPr/>
        </p:nvSpPr>
        <p:spPr>
          <a:xfrm>
            <a:off x="0" y="0"/>
            <a:ext cx="10080000" cy="540000"/>
          </a:xfrm>
          <a:prstGeom prst="rect">
            <a:avLst/>
          </a:prstGeom>
          <a:solidFill>
            <a:srgbClr val="17365d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"/>
          <p:cNvSpPr txBox="1"/>
          <p:nvPr/>
        </p:nvSpPr>
        <p:spPr>
          <a:xfrm>
            <a:off x="288000" y="90000"/>
            <a:ext cx="8640000" cy="43632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54000" bIns="54000" anchor="t">
            <a:noAutofit/>
          </a:bodyPr>
          <a:p>
            <a:r>
              <a:rPr b="1" lang="en-US" sz="2300" spc="-1" strike="noStrike">
                <a:solidFill>
                  <a:srgbClr val="ffffff"/>
                </a:solidFill>
                <a:latin typeface="Arial"/>
              </a:rPr>
              <a:t>Objetivo y arquitectura</a:t>
            </a:r>
            <a:endParaRPr b="1" lang="en-US" sz="23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5" name="" descr=""/>
          <p:cNvPicPr/>
          <p:nvPr/>
        </p:nvPicPr>
        <p:blipFill>
          <a:blip r:embed="rId1"/>
          <a:stretch/>
        </p:blipFill>
        <p:spPr>
          <a:xfrm>
            <a:off x="4860000" y="792000"/>
            <a:ext cx="4500000" cy="3060000"/>
          </a:xfrm>
          <a:prstGeom prst="rect">
            <a:avLst/>
          </a:prstGeom>
          <a:ln w="0">
            <a:noFill/>
          </a:ln>
        </p:spPr>
      </p:pic>
      <p:sp>
        <p:nvSpPr>
          <p:cNvPr id="16" name=""/>
          <p:cNvSpPr txBox="1"/>
          <p:nvPr/>
        </p:nvSpPr>
        <p:spPr>
          <a:xfrm>
            <a:off x="360000" y="900000"/>
            <a:ext cx="4140000" cy="235800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54000" bIns="54000" anchor="t">
            <a:noAutofit/>
          </a:bodyPr>
          <a:p>
            <a:r>
              <a:rPr b="0" lang="en-US" sz="1900" spc="-1" strike="noStrike">
                <a:solidFill>
                  <a:srgbClr val="202020"/>
                </a:solidFill>
                <a:latin typeface="Arial"/>
              </a:rPr>
              <a:t>• </a:t>
            </a:r>
            <a:r>
              <a:rPr b="0" lang="en-US" sz="1900" spc="-1" strike="noStrike">
                <a:solidFill>
                  <a:srgbClr val="202020"/>
                </a:solidFill>
                <a:latin typeface="Arial"/>
              </a:rPr>
              <a:t>Pulsador: ciclo PATROL → STOP → DEPLOY → RETURN.</a:t>
            </a:r>
            <a:endParaRPr b="0" lang="en-US" sz="1900" spc="-1" strike="noStrike">
              <a:solidFill>
                <a:srgbClr val="202020"/>
              </a:solidFill>
              <a:latin typeface="Arial"/>
            </a:endParaRPr>
          </a:p>
          <a:p>
            <a:r>
              <a:rPr b="0" lang="en-US" sz="1900" spc="-1" strike="noStrike">
                <a:solidFill>
                  <a:srgbClr val="202020"/>
                </a:solidFill>
                <a:latin typeface="Arial"/>
              </a:rPr>
              <a:t>• </a:t>
            </a:r>
            <a:r>
              <a:rPr b="0" lang="en-US" sz="1900" spc="-1" strike="noStrike">
                <a:solidFill>
                  <a:srgbClr val="202020"/>
                </a:solidFill>
                <a:latin typeface="Arial"/>
              </a:rPr>
              <a:t>Potenciómetro: parámetro auxiliar 0–255.</a:t>
            </a:r>
            <a:endParaRPr b="0" lang="en-US" sz="1900" spc="-1" strike="noStrike">
              <a:solidFill>
                <a:srgbClr val="202020"/>
              </a:solidFill>
              <a:latin typeface="Arial"/>
            </a:endParaRPr>
          </a:p>
          <a:p>
            <a:r>
              <a:rPr b="0" lang="en-US" sz="1900" spc="-1" strike="noStrike">
                <a:solidFill>
                  <a:srgbClr val="202020"/>
                </a:solidFill>
                <a:latin typeface="Arial"/>
              </a:rPr>
              <a:t>• </a:t>
            </a:r>
            <a:r>
              <a:rPr b="0" lang="en-US" sz="1900" spc="-1" strike="noStrike">
                <a:solidFill>
                  <a:srgbClr val="202020"/>
                </a:solidFill>
                <a:latin typeface="Arial"/>
              </a:rPr>
              <a:t>LED y buzzer: realimentación local del modo.</a:t>
            </a:r>
            <a:endParaRPr b="0" lang="en-US" sz="1900" spc="-1" strike="noStrike">
              <a:solidFill>
                <a:srgbClr val="202020"/>
              </a:solidFill>
              <a:latin typeface="Arial"/>
            </a:endParaRPr>
          </a:p>
          <a:p>
            <a:r>
              <a:rPr b="0" lang="en-US" sz="1900" spc="-1" strike="noStrike">
                <a:solidFill>
                  <a:srgbClr val="202020"/>
                </a:solidFill>
                <a:latin typeface="Arial"/>
              </a:rPr>
              <a:t>• </a:t>
            </a:r>
            <a:r>
              <a:rPr b="0" lang="en-US" sz="1900" spc="-1" strike="noStrike">
                <a:solidFill>
                  <a:srgbClr val="202020"/>
                </a:solidFill>
                <a:latin typeface="Arial"/>
              </a:rPr>
              <a:t>UART: eventos, estado y datos con ACK y reintentos.</a:t>
            </a:r>
            <a:endParaRPr b="0" lang="en-US" sz="1900" spc="-1" strike="noStrike">
              <a:solidFill>
                <a:srgbClr val="202020"/>
              </a:solidFill>
              <a:latin typeface="Arial"/>
            </a:endParaRPr>
          </a:p>
        </p:txBody>
      </p:sp>
      <p:sp>
        <p:nvSpPr>
          <p:cNvPr id="17" name=""/>
          <p:cNvSpPr txBox="1"/>
          <p:nvPr/>
        </p:nvSpPr>
        <p:spPr>
          <a:xfrm>
            <a:off x="234000" y="5436000"/>
            <a:ext cx="6480000" cy="25020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54000" bIns="54000" anchor="t">
            <a:noAutofit/>
          </a:bodyPr>
          <a:p>
            <a:r>
              <a:rPr b="0" lang="en-US" sz="1000" spc="-1" strike="noStrike">
                <a:solidFill>
                  <a:srgbClr val="666666"/>
                </a:solidFill>
                <a:latin typeface="Arial"/>
              </a:rPr>
              <a:t>TPI-V3 · Sistemas Embebidos · UADE</a:t>
            </a:r>
            <a:endParaRPr b="0" lang="en-US" sz="1000" spc="-1" strike="noStrike">
              <a:solidFill>
                <a:srgbClr val="666666"/>
              </a:solidFill>
              <a:latin typeface="Arial"/>
            </a:endParaRPr>
          </a:p>
        </p:txBody>
      </p:sp>
      <p:sp>
        <p:nvSpPr>
          <p:cNvPr id="18" name=""/>
          <p:cNvSpPr txBox="1"/>
          <p:nvPr/>
        </p:nvSpPr>
        <p:spPr>
          <a:xfrm>
            <a:off x="9576000" y="5436000"/>
            <a:ext cx="252000" cy="25020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54000" bIns="54000" anchor="t">
            <a:noAutofit/>
          </a:bodyPr>
          <a:p>
            <a:pPr algn="just"/>
            <a:r>
              <a:rPr b="0" lang="en-US" sz="1000" spc="-1" strike="noStrike">
                <a:solidFill>
                  <a:srgbClr val="666666"/>
                </a:solidFill>
                <a:latin typeface="Arial"/>
              </a:rPr>
              <a:t>2</a:t>
            </a:r>
            <a:endParaRPr b="0" lang="en-US" sz="1000" spc="-1" strike="noStrike">
              <a:solidFill>
                <a:srgbClr val="666666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"/>
          <p:cNvSpPr/>
          <p:nvPr/>
        </p:nvSpPr>
        <p:spPr>
          <a:xfrm>
            <a:off x="0" y="0"/>
            <a:ext cx="10080000" cy="540000"/>
          </a:xfrm>
          <a:prstGeom prst="rect">
            <a:avLst/>
          </a:prstGeom>
          <a:solidFill>
            <a:srgbClr val="17365d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"/>
          <p:cNvSpPr txBox="1"/>
          <p:nvPr/>
        </p:nvSpPr>
        <p:spPr>
          <a:xfrm>
            <a:off x="288000" y="90000"/>
            <a:ext cx="8640000" cy="43632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54000" bIns="54000" anchor="t">
            <a:noAutofit/>
          </a:bodyPr>
          <a:p>
            <a:r>
              <a:rPr b="1" lang="en-US" sz="2300" spc="-1" strike="noStrike">
                <a:solidFill>
                  <a:srgbClr val="ffffff"/>
                </a:solidFill>
                <a:latin typeface="Arial"/>
              </a:rPr>
              <a:t>Etapa 1 — Protocolo serie y parser</a:t>
            </a:r>
            <a:endParaRPr b="1" lang="en-US" sz="23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1" name="" descr=""/>
          <p:cNvPicPr/>
          <p:nvPr/>
        </p:nvPicPr>
        <p:blipFill>
          <a:blip r:embed="rId1"/>
          <a:stretch/>
        </p:blipFill>
        <p:spPr>
          <a:xfrm>
            <a:off x="5040000" y="828000"/>
            <a:ext cx="4140000" cy="2880000"/>
          </a:xfrm>
          <a:prstGeom prst="rect">
            <a:avLst/>
          </a:prstGeom>
          <a:ln w="0">
            <a:noFill/>
          </a:ln>
        </p:spPr>
      </p:pic>
      <p:pic>
        <p:nvPicPr>
          <p:cNvPr id="22" name="" descr=""/>
          <p:cNvPicPr/>
          <p:nvPr/>
        </p:nvPicPr>
        <p:blipFill>
          <a:blip r:embed="rId2"/>
          <a:stretch/>
        </p:blipFill>
        <p:spPr>
          <a:xfrm>
            <a:off x="6840000" y="3780000"/>
            <a:ext cx="2340000" cy="1260000"/>
          </a:xfrm>
          <a:prstGeom prst="rect">
            <a:avLst/>
          </a:prstGeom>
          <a:ln w="0">
            <a:noFill/>
          </a:ln>
        </p:spPr>
      </p:pic>
      <p:sp>
        <p:nvSpPr>
          <p:cNvPr id="23" name=""/>
          <p:cNvSpPr txBox="1"/>
          <p:nvPr/>
        </p:nvSpPr>
        <p:spPr>
          <a:xfrm>
            <a:off x="324000" y="900000"/>
            <a:ext cx="4320000" cy="235800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54000" bIns="54000" anchor="t">
            <a:noAutofit/>
          </a:bodyPr>
          <a:p>
            <a:r>
              <a:rPr b="0" lang="en-US" sz="1900" spc="-1" strike="noStrike">
                <a:solidFill>
                  <a:srgbClr val="202020"/>
                </a:solidFill>
                <a:latin typeface="Arial"/>
              </a:rPr>
              <a:t>• </a:t>
            </a:r>
            <a:r>
              <a:rPr b="0" lang="en-US" sz="1900" spc="-1" strike="noStrike">
                <a:solidFill>
                  <a:srgbClr val="202020"/>
                </a:solidFill>
                <a:latin typeface="Arial"/>
              </a:rPr>
              <a:t>FSM incremental: consume un byte por vez.</a:t>
            </a:r>
            <a:endParaRPr b="0" lang="en-US" sz="1900" spc="-1" strike="noStrike">
              <a:solidFill>
                <a:srgbClr val="202020"/>
              </a:solidFill>
              <a:latin typeface="Arial"/>
            </a:endParaRPr>
          </a:p>
          <a:p>
            <a:r>
              <a:rPr b="0" lang="en-US" sz="1900" spc="-1" strike="noStrike">
                <a:solidFill>
                  <a:srgbClr val="202020"/>
                </a:solidFill>
                <a:latin typeface="Arial"/>
              </a:rPr>
              <a:t>• </a:t>
            </a:r>
            <a:r>
              <a:rPr b="0" lang="en-US" sz="1900" spc="-1" strike="noStrike">
                <a:solidFill>
                  <a:srgbClr val="202020"/>
                </a:solidFill>
                <a:latin typeface="Arial"/>
              </a:rPr>
              <a:t>Valida longitud, tipo, caracteres y checksum.</a:t>
            </a:r>
            <a:endParaRPr b="0" lang="en-US" sz="1900" spc="-1" strike="noStrike">
              <a:solidFill>
                <a:srgbClr val="202020"/>
              </a:solidFill>
              <a:latin typeface="Arial"/>
            </a:endParaRPr>
          </a:p>
          <a:p>
            <a:r>
              <a:rPr b="0" lang="en-US" sz="1900" spc="-1" strike="noStrike">
                <a:solidFill>
                  <a:srgbClr val="202020"/>
                </a:solidFill>
                <a:latin typeface="Arial"/>
              </a:rPr>
              <a:t>• </a:t>
            </a:r>
            <a:r>
              <a:rPr b="0" lang="en-US" sz="1900" spc="-1" strike="noStrike">
                <a:solidFill>
                  <a:srgbClr val="202020"/>
                </a:solidFill>
                <a:latin typeface="Arial"/>
              </a:rPr>
              <a:t>Resincroniza ante ruido, trama truncada o LL inconsistente.</a:t>
            </a:r>
            <a:endParaRPr b="0" lang="en-US" sz="1900" spc="-1" strike="noStrike">
              <a:solidFill>
                <a:srgbClr val="202020"/>
              </a:solidFill>
              <a:latin typeface="Arial"/>
            </a:endParaRPr>
          </a:p>
          <a:p>
            <a:r>
              <a:rPr b="0" lang="en-US" sz="1900" spc="-1" strike="noStrike">
                <a:solidFill>
                  <a:srgbClr val="202020"/>
                </a:solidFill>
                <a:latin typeface="Arial"/>
              </a:rPr>
              <a:t>• </a:t>
            </a:r>
            <a:r>
              <a:rPr b="0" lang="en-US" sz="1900" spc="-1" strike="noStrike">
                <a:solidFill>
                  <a:srgbClr val="202020"/>
                </a:solidFill>
                <a:latin typeface="Arial"/>
              </a:rPr>
              <a:t>67 tests de host cubren casos válidos y errores.</a:t>
            </a:r>
            <a:endParaRPr b="0" lang="en-US" sz="1900" spc="-1" strike="noStrike">
              <a:solidFill>
                <a:srgbClr val="202020"/>
              </a:solidFill>
              <a:latin typeface="Arial"/>
            </a:endParaRPr>
          </a:p>
        </p:txBody>
      </p:sp>
      <p:sp>
        <p:nvSpPr>
          <p:cNvPr id="24" name=""/>
          <p:cNvSpPr txBox="1"/>
          <p:nvPr/>
        </p:nvSpPr>
        <p:spPr>
          <a:xfrm>
            <a:off x="6660000" y="5112000"/>
            <a:ext cx="2700000" cy="41940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54000" bIns="54000" anchor="t">
            <a:noAutofit/>
          </a:bodyPr>
          <a:p>
            <a:pPr algn="r"/>
            <a:r>
              <a:rPr b="0" lang="en-US" sz="1100" spc="-1" strike="noStrike">
                <a:solidFill>
                  <a:srgbClr val="666666"/>
                </a:solidFill>
                <a:latin typeface="Arial"/>
              </a:rPr>
              <a:t>Placeholder Lucidchart — revisar/pulir antes de exponer</a:t>
            </a:r>
            <a:endParaRPr b="0" lang="en-US" sz="1100" spc="-1" strike="noStrike">
              <a:solidFill>
                <a:srgbClr val="666666"/>
              </a:solidFill>
              <a:latin typeface="Arial"/>
            </a:endParaRPr>
          </a:p>
        </p:txBody>
      </p:sp>
      <p:sp>
        <p:nvSpPr>
          <p:cNvPr id="25" name=""/>
          <p:cNvSpPr txBox="1"/>
          <p:nvPr/>
        </p:nvSpPr>
        <p:spPr>
          <a:xfrm>
            <a:off x="234000" y="5436000"/>
            <a:ext cx="6480000" cy="25020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54000" bIns="54000" anchor="t">
            <a:noAutofit/>
          </a:bodyPr>
          <a:p>
            <a:r>
              <a:rPr b="0" lang="en-US" sz="1000" spc="-1" strike="noStrike">
                <a:solidFill>
                  <a:srgbClr val="666666"/>
                </a:solidFill>
                <a:latin typeface="Arial"/>
              </a:rPr>
              <a:t>TPI-V3 · Sistemas Embebidos · UADE</a:t>
            </a:r>
            <a:endParaRPr b="0" lang="en-US" sz="1000" spc="-1" strike="noStrike">
              <a:solidFill>
                <a:srgbClr val="666666"/>
              </a:solidFill>
              <a:latin typeface="Arial"/>
            </a:endParaRPr>
          </a:p>
        </p:txBody>
      </p:sp>
      <p:sp>
        <p:nvSpPr>
          <p:cNvPr id="26" name=""/>
          <p:cNvSpPr txBox="1"/>
          <p:nvPr/>
        </p:nvSpPr>
        <p:spPr>
          <a:xfrm>
            <a:off x="9576000" y="5436000"/>
            <a:ext cx="252000" cy="25020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54000" bIns="54000" anchor="t">
            <a:noAutofit/>
          </a:bodyPr>
          <a:p>
            <a:pPr algn="just"/>
            <a:r>
              <a:rPr b="0" lang="en-US" sz="1000" spc="-1" strike="noStrike">
                <a:solidFill>
                  <a:srgbClr val="666666"/>
                </a:solidFill>
                <a:latin typeface="Arial"/>
              </a:rPr>
              <a:t>3</a:t>
            </a:r>
            <a:endParaRPr b="0" lang="en-US" sz="1000" spc="-1" strike="noStrike">
              <a:solidFill>
                <a:srgbClr val="666666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"/>
          <p:cNvSpPr/>
          <p:nvPr/>
        </p:nvSpPr>
        <p:spPr>
          <a:xfrm>
            <a:off x="0" y="0"/>
            <a:ext cx="10080000" cy="540000"/>
          </a:xfrm>
          <a:prstGeom prst="rect">
            <a:avLst/>
          </a:prstGeom>
          <a:solidFill>
            <a:srgbClr val="17365d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"/>
          <p:cNvSpPr txBox="1"/>
          <p:nvPr/>
        </p:nvSpPr>
        <p:spPr>
          <a:xfrm>
            <a:off x="288000" y="90000"/>
            <a:ext cx="8640000" cy="43632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54000" bIns="54000" anchor="t">
            <a:noAutofit/>
          </a:bodyPr>
          <a:p>
            <a:r>
              <a:rPr b="1" lang="en-US" sz="2300" spc="-1" strike="noStrike">
                <a:solidFill>
                  <a:srgbClr val="ffffff"/>
                </a:solidFill>
                <a:latin typeface="Arial"/>
              </a:rPr>
              <a:t>Etapa 1 — Evidencia UART</a:t>
            </a:r>
            <a:endParaRPr b="1" lang="en-US" sz="23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9" name="" descr=""/>
          <p:cNvPicPr/>
          <p:nvPr/>
        </p:nvPicPr>
        <p:blipFill>
          <a:blip r:embed="rId1"/>
          <a:stretch/>
        </p:blipFill>
        <p:spPr>
          <a:xfrm>
            <a:off x="6120000" y="828000"/>
            <a:ext cx="2520000" cy="3780000"/>
          </a:xfrm>
          <a:prstGeom prst="rect">
            <a:avLst/>
          </a:prstGeom>
          <a:ln w="0">
            <a:noFill/>
          </a:ln>
        </p:spPr>
      </p:pic>
      <p:sp>
        <p:nvSpPr>
          <p:cNvPr id="30" name=""/>
          <p:cNvSpPr txBox="1"/>
          <p:nvPr/>
        </p:nvSpPr>
        <p:spPr>
          <a:xfrm>
            <a:off x="360000" y="1008000"/>
            <a:ext cx="5040000" cy="217800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54000" bIns="54000" anchor="t">
            <a:noAutofit/>
          </a:bodyPr>
          <a:p>
            <a:r>
              <a:rPr b="0" lang="en-US" sz="1900" spc="-1" strike="noStrike">
                <a:solidFill>
                  <a:srgbClr val="202020"/>
                </a:solidFill>
                <a:latin typeface="Arial"/>
              </a:rPr>
              <a:t>• </a:t>
            </a:r>
            <a:r>
              <a:rPr b="0" lang="en-US" sz="1900" spc="-1" strike="noStrike">
                <a:solidFill>
                  <a:srgbClr val="202020"/>
                </a:solidFill>
                <a:latin typeface="Arial"/>
              </a:rPr>
              <a:t>CMD:ping y CMD:mode=ESTOP → ACK:ok.</a:t>
            </a:r>
            <a:endParaRPr b="0" lang="en-US" sz="1900" spc="-1" strike="noStrike">
              <a:solidFill>
                <a:srgbClr val="202020"/>
              </a:solidFill>
              <a:latin typeface="Arial"/>
            </a:endParaRPr>
          </a:p>
          <a:p>
            <a:r>
              <a:rPr b="0" lang="en-US" sz="1900" spc="-1" strike="noStrike">
                <a:solidFill>
                  <a:srgbClr val="202020"/>
                </a:solidFill>
                <a:latin typeface="Arial"/>
              </a:rPr>
              <a:t>• </a:t>
            </a:r>
            <a:r>
              <a:rPr b="0" lang="en-US" sz="1900" spc="-1" strike="noStrike">
                <a:solidFill>
                  <a:srgbClr val="202020"/>
                </a:solidFill>
                <a:latin typeface="Arial"/>
              </a:rPr>
              <a:t>Tramas inválidas → ERR:bounds.</a:t>
            </a:r>
            <a:endParaRPr b="0" lang="en-US" sz="1900" spc="-1" strike="noStrike">
              <a:solidFill>
                <a:srgbClr val="202020"/>
              </a:solidFill>
              <a:latin typeface="Arial"/>
            </a:endParaRPr>
          </a:p>
          <a:p>
            <a:r>
              <a:rPr b="0" lang="en-US" sz="1900" spc="-1" strike="noStrike">
                <a:solidFill>
                  <a:srgbClr val="202020"/>
                </a:solidFill>
                <a:latin typeface="Arial"/>
              </a:rPr>
              <a:t>• </a:t>
            </a:r>
            <a:r>
              <a:rPr b="0" lang="en-US" sz="1900" spc="-1" strike="noStrike">
                <a:solidFill>
                  <a:srgbClr val="202020"/>
                </a:solidFill>
                <a:latin typeface="Arial"/>
              </a:rPr>
              <a:t>ACK detiene los reenvíos periódicos del EVT.</a:t>
            </a:r>
            <a:endParaRPr b="0" lang="en-US" sz="1900" spc="-1" strike="noStrike">
              <a:solidFill>
                <a:srgbClr val="202020"/>
              </a:solidFill>
              <a:latin typeface="Arial"/>
            </a:endParaRPr>
          </a:p>
          <a:p>
            <a:r>
              <a:rPr b="0" lang="en-US" sz="1900" spc="-1" strike="noStrike">
                <a:solidFill>
                  <a:srgbClr val="202020"/>
                </a:solidFill>
                <a:latin typeface="Arial"/>
              </a:rPr>
              <a:t>• </a:t>
            </a:r>
            <a:r>
              <a:rPr b="0" lang="en-US" sz="1900" spc="-1" strike="noStrike">
                <a:solidFill>
                  <a:srgbClr val="202020"/>
                </a:solidFill>
                <a:latin typeface="Arial"/>
              </a:rPr>
              <a:t>Video: evidencia/TPI_V3_Acknowledge.mp4</a:t>
            </a:r>
            <a:endParaRPr b="0" lang="en-US" sz="1900" spc="-1" strike="noStrike">
              <a:solidFill>
                <a:srgbClr val="202020"/>
              </a:solidFill>
              <a:latin typeface="Arial"/>
            </a:endParaRPr>
          </a:p>
        </p:txBody>
      </p:sp>
      <p:sp>
        <p:nvSpPr>
          <p:cNvPr id="31" name=""/>
          <p:cNvSpPr txBox="1"/>
          <p:nvPr/>
        </p:nvSpPr>
        <p:spPr>
          <a:xfrm>
            <a:off x="234000" y="5436000"/>
            <a:ext cx="6480000" cy="25020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54000" bIns="54000" anchor="t">
            <a:noAutofit/>
          </a:bodyPr>
          <a:p>
            <a:r>
              <a:rPr b="0" lang="en-US" sz="1000" spc="-1" strike="noStrike">
                <a:solidFill>
                  <a:srgbClr val="666666"/>
                </a:solidFill>
                <a:latin typeface="Arial"/>
              </a:rPr>
              <a:t>TPI-V3 · Sistemas Embebidos · UADE</a:t>
            </a:r>
            <a:endParaRPr b="0" lang="en-US" sz="1000" spc="-1" strike="noStrike">
              <a:solidFill>
                <a:srgbClr val="666666"/>
              </a:solidFill>
              <a:latin typeface="Arial"/>
            </a:endParaRPr>
          </a:p>
        </p:txBody>
      </p:sp>
      <p:sp>
        <p:nvSpPr>
          <p:cNvPr id="32" name=""/>
          <p:cNvSpPr txBox="1"/>
          <p:nvPr/>
        </p:nvSpPr>
        <p:spPr>
          <a:xfrm>
            <a:off x="9576000" y="5436000"/>
            <a:ext cx="252000" cy="25020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54000" bIns="54000" anchor="t">
            <a:noAutofit/>
          </a:bodyPr>
          <a:p>
            <a:pPr algn="just"/>
            <a:r>
              <a:rPr b="0" lang="en-US" sz="1000" spc="-1" strike="noStrike">
                <a:solidFill>
                  <a:srgbClr val="666666"/>
                </a:solidFill>
                <a:latin typeface="Arial"/>
              </a:rPr>
              <a:t>4</a:t>
            </a:r>
            <a:endParaRPr b="0" lang="en-US" sz="1000" spc="-1" strike="noStrike">
              <a:solidFill>
                <a:srgbClr val="666666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"/>
          <p:cNvSpPr/>
          <p:nvPr/>
        </p:nvSpPr>
        <p:spPr>
          <a:xfrm>
            <a:off x="0" y="0"/>
            <a:ext cx="10080000" cy="540000"/>
          </a:xfrm>
          <a:prstGeom prst="rect">
            <a:avLst/>
          </a:prstGeom>
          <a:solidFill>
            <a:srgbClr val="17365d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" name=""/>
          <p:cNvSpPr txBox="1"/>
          <p:nvPr/>
        </p:nvSpPr>
        <p:spPr>
          <a:xfrm>
            <a:off x="288000" y="90000"/>
            <a:ext cx="8640000" cy="43632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54000" bIns="54000" anchor="t">
            <a:noAutofit/>
          </a:bodyPr>
          <a:p>
            <a:r>
              <a:rPr b="1" lang="en-US" sz="2300" spc="-1" strike="noStrike">
                <a:solidFill>
                  <a:srgbClr val="ffffff"/>
                </a:solidFill>
                <a:latin typeface="Arial"/>
              </a:rPr>
              <a:t>Etapa 2 — Periféricos</a:t>
            </a:r>
            <a:endParaRPr b="1" lang="en-US" sz="23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5" name="" descr=""/>
          <p:cNvPicPr/>
          <p:nvPr/>
        </p:nvPicPr>
        <p:blipFill>
          <a:blip r:embed="rId1"/>
          <a:stretch/>
        </p:blipFill>
        <p:spPr>
          <a:xfrm>
            <a:off x="6120000" y="828000"/>
            <a:ext cx="2520000" cy="3780000"/>
          </a:xfrm>
          <a:prstGeom prst="rect">
            <a:avLst/>
          </a:prstGeom>
          <a:ln w="0">
            <a:noFill/>
          </a:ln>
        </p:spPr>
      </p:pic>
      <p:sp>
        <p:nvSpPr>
          <p:cNvPr id="36" name=""/>
          <p:cNvSpPr txBox="1"/>
          <p:nvPr/>
        </p:nvSpPr>
        <p:spPr>
          <a:xfrm>
            <a:off x="324000" y="936000"/>
            <a:ext cx="5220000" cy="253800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54000" bIns="54000" anchor="t">
            <a:noAutofit/>
          </a:bodyPr>
          <a:p>
            <a:r>
              <a:rPr b="0" lang="en-US" sz="1900" spc="-1" strike="noStrike">
                <a:solidFill>
                  <a:srgbClr val="202020"/>
                </a:solidFill>
                <a:latin typeface="Arial"/>
              </a:rPr>
              <a:t>• </a:t>
            </a:r>
            <a:r>
              <a:rPr b="0" lang="en-US" sz="1900" spc="-1" strike="noStrike">
                <a:solidFill>
                  <a:srgbClr val="202020"/>
                </a:solidFill>
                <a:latin typeface="Arial"/>
              </a:rPr>
              <a:t>ADC en PA0, muestreado cada 500 ms.</a:t>
            </a:r>
            <a:endParaRPr b="0" lang="en-US" sz="1900" spc="-1" strike="noStrike">
              <a:solidFill>
                <a:srgbClr val="202020"/>
              </a:solidFill>
              <a:latin typeface="Arial"/>
            </a:endParaRPr>
          </a:p>
          <a:p>
            <a:r>
              <a:rPr b="0" lang="en-US" sz="1900" spc="-1" strike="noStrike">
                <a:solidFill>
                  <a:srgbClr val="202020"/>
                </a:solidFill>
                <a:latin typeface="Arial"/>
              </a:rPr>
              <a:t>• </a:t>
            </a:r>
            <a:r>
              <a:rPr b="0" lang="en-US" sz="1900" spc="-1" strike="noStrike">
                <a:solidFill>
                  <a:srgbClr val="202020"/>
                </a:solidFill>
                <a:latin typeface="Arial"/>
              </a:rPr>
              <a:t>TIM2: PWM LED a 1 kHz.</a:t>
            </a:r>
            <a:endParaRPr b="0" lang="en-US" sz="1900" spc="-1" strike="noStrike">
              <a:solidFill>
                <a:srgbClr val="202020"/>
              </a:solidFill>
              <a:latin typeface="Arial"/>
            </a:endParaRPr>
          </a:p>
          <a:p>
            <a:r>
              <a:rPr b="0" lang="en-US" sz="1900" spc="-1" strike="noStrike">
                <a:solidFill>
                  <a:srgbClr val="202020"/>
                </a:solidFill>
                <a:latin typeface="Arial"/>
              </a:rPr>
              <a:t>• </a:t>
            </a:r>
            <a:r>
              <a:rPr b="0" lang="en-US" sz="1900" spc="-1" strike="noStrike">
                <a:solidFill>
                  <a:srgbClr val="202020"/>
                </a:solidFill>
                <a:latin typeface="Arial"/>
              </a:rPr>
              <a:t>TIM4: buzzer pasivo a 2 kHz.</a:t>
            </a:r>
            <a:endParaRPr b="0" lang="en-US" sz="1900" spc="-1" strike="noStrike">
              <a:solidFill>
                <a:srgbClr val="202020"/>
              </a:solidFill>
              <a:latin typeface="Arial"/>
            </a:endParaRPr>
          </a:p>
          <a:p>
            <a:r>
              <a:rPr b="0" lang="en-US" sz="1900" spc="-1" strike="noStrike">
                <a:solidFill>
                  <a:srgbClr val="202020"/>
                </a:solidFill>
                <a:latin typeface="Arial"/>
              </a:rPr>
              <a:t>• </a:t>
            </a:r>
            <a:r>
              <a:rPr b="0" lang="en-US" sz="1900" spc="-1" strike="noStrike">
                <a:solidFill>
                  <a:srgbClr val="202020"/>
                </a:solidFill>
                <a:latin typeface="Arial"/>
              </a:rPr>
              <a:t>EXTI1 + 50 ms: anti-rebote del pulsador.</a:t>
            </a:r>
            <a:endParaRPr b="0" lang="en-US" sz="1900" spc="-1" strike="noStrike">
              <a:solidFill>
                <a:srgbClr val="202020"/>
              </a:solidFill>
              <a:latin typeface="Arial"/>
            </a:endParaRPr>
          </a:p>
          <a:p>
            <a:r>
              <a:rPr b="0" lang="en-US" sz="1900" spc="-1" strike="noStrike">
                <a:solidFill>
                  <a:srgbClr val="202020"/>
                </a:solidFill>
                <a:latin typeface="Arial"/>
              </a:rPr>
              <a:t>• </a:t>
            </a:r>
            <a:r>
              <a:rPr b="0" lang="en-US" sz="1900" spc="-1" strike="noStrike">
                <a:solidFill>
                  <a:srgbClr val="202020"/>
                </a:solidFill>
                <a:latin typeface="Arial"/>
              </a:rPr>
              <a:t>Video: evidencia/TPI_V3_ADC_EXTI_FSM.mp4</a:t>
            </a:r>
            <a:endParaRPr b="0" lang="en-US" sz="1900" spc="-1" strike="noStrike">
              <a:solidFill>
                <a:srgbClr val="202020"/>
              </a:solidFill>
              <a:latin typeface="Arial"/>
            </a:endParaRPr>
          </a:p>
        </p:txBody>
      </p:sp>
      <p:sp>
        <p:nvSpPr>
          <p:cNvPr id="37" name=""/>
          <p:cNvSpPr txBox="1"/>
          <p:nvPr/>
        </p:nvSpPr>
        <p:spPr>
          <a:xfrm>
            <a:off x="234000" y="5436000"/>
            <a:ext cx="6480000" cy="25020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54000" bIns="54000" anchor="t">
            <a:noAutofit/>
          </a:bodyPr>
          <a:p>
            <a:r>
              <a:rPr b="0" lang="en-US" sz="1000" spc="-1" strike="noStrike">
                <a:solidFill>
                  <a:srgbClr val="666666"/>
                </a:solidFill>
                <a:latin typeface="Arial"/>
              </a:rPr>
              <a:t>TPI-V3 · Sistemas Embebidos · UADE</a:t>
            </a:r>
            <a:endParaRPr b="0" lang="en-US" sz="1000" spc="-1" strike="noStrike">
              <a:solidFill>
                <a:srgbClr val="666666"/>
              </a:solidFill>
              <a:latin typeface="Arial"/>
            </a:endParaRPr>
          </a:p>
        </p:txBody>
      </p:sp>
      <p:sp>
        <p:nvSpPr>
          <p:cNvPr id="38" name=""/>
          <p:cNvSpPr txBox="1"/>
          <p:nvPr/>
        </p:nvSpPr>
        <p:spPr>
          <a:xfrm>
            <a:off x="9576000" y="5436000"/>
            <a:ext cx="252000" cy="25020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54000" bIns="54000" anchor="t">
            <a:noAutofit/>
          </a:bodyPr>
          <a:p>
            <a:pPr algn="just"/>
            <a:r>
              <a:rPr b="0" lang="en-US" sz="1000" spc="-1" strike="noStrike">
                <a:solidFill>
                  <a:srgbClr val="666666"/>
                </a:solidFill>
                <a:latin typeface="Arial"/>
              </a:rPr>
              <a:t>5</a:t>
            </a:r>
            <a:endParaRPr b="0" lang="en-US" sz="1000" spc="-1" strike="noStrike">
              <a:solidFill>
                <a:srgbClr val="666666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"/>
          <p:cNvSpPr/>
          <p:nvPr/>
        </p:nvSpPr>
        <p:spPr>
          <a:xfrm>
            <a:off x="0" y="0"/>
            <a:ext cx="10080000" cy="540000"/>
          </a:xfrm>
          <a:prstGeom prst="rect">
            <a:avLst/>
          </a:prstGeom>
          <a:solidFill>
            <a:srgbClr val="17365d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" name=""/>
          <p:cNvSpPr txBox="1"/>
          <p:nvPr/>
        </p:nvSpPr>
        <p:spPr>
          <a:xfrm>
            <a:off x="288000" y="90000"/>
            <a:ext cx="8640000" cy="43632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54000" bIns="54000" anchor="t">
            <a:noAutofit/>
          </a:bodyPr>
          <a:p>
            <a:r>
              <a:rPr b="1" lang="en-US" sz="2300" spc="-1" strike="noStrike">
                <a:solidFill>
                  <a:srgbClr val="ffffff"/>
                </a:solidFill>
                <a:latin typeface="Arial"/>
              </a:rPr>
              <a:t>Etapa 3 — Caja de comandos</a:t>
            </a:r>
            <a:endParaRPr b="1" lang="en-US" sz="23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1" name="" descr=""/>
          <p:cNvPicPr/>
          <p:nvPr/>
        </p:nvPicPr>
        <p:blipFill>
          <a:blip r:embed="rId1"/>
          <a:stretch/>
        </p:blipFill>
        <p:spPr>
          <a:xfrm>
            <a:off x="396000" y="792000"/>
            <a:ext cx="4536000" cy="2880000"/>
          </a:xfrm>
          <a:prstGeom prst="rect">
            <a:avLst/>
          </a:prstGeom>
          <a:ln w="0">
            <a:noFill/>
          </a:ln>
        </p:spPr>
      </p:pic>
      <p:pic>
        <p:nvPicPr>
          <p:cNvPr id="42" name="" descr=""/>
          <p:cNvPicPr/>
          <p:nvPr/>
        </p:nvPicPr>
        <p:blipFill>
          <a:blip r:embed="rId2"/>
          <a:stretch/>
        </p:blipFill>
        <p:spPr>
          <a:xfrm>
            <a:off x="5220000" y="792000"/>
            <a:ext cx="4500000" cy="2880000"/>
          </a:xfrm>
          <a:prstGeom prst="rect">
            <a:avLst/>
          </a:prstGeom>
          <a:ln w="0">
            <a:noFill/>
          </a:ln>
        </p:spPr>
      </p:pic>
      <p:sp>
        <p:nvSpPr>
          <p:cNvPr id="43" name=""/>
          <p:cNvSpPr txBox="1"/>
          <p:nvPr/>
        </p:nvSpPr>
        <p:spPr>
          <a:xfrm>
            <a:off x="720000" y="4068000"/>
            <a:ext cx="8640000" cy="37656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54000" bIns="54000" anchor="t">
            <a:noAutofit/>
          </a:bodyPr>
          <a:p>
            <a:pPr algn="r"/>
            <a:r>
              <a:rPr b="0" lang="en-US" sz="1900" spc="-1" strike="noStrike">
                <a:solidFill>
                  <a:srgbClr val="202020"/>
                </a:solidFill>
                <a:latin typeface="Arial"/>
              </a:rPr>
              <a:t>Cada transición emite EVT + STS + DAT y actualiza la señalización local.</a:t>
            </a:r>
            <a:endParaRPr b="0" lang="en-US" sz="1900" spc="-1" strike="noStrike">
              <a:solidFill>
                <a:srgbClr val="202020"/>
              </a:solidFill>
              <a:latin typeface="Arial"/>
            </a:endParaRPr>
          </a:p>
        </p:txBody>
      </p:sp>
      <p:sp>
        <p:nvSpPr>
          <p:cNvPr id="44" name=""/>
          <p:cNvSpPr txBox="1"/>
          <p:nvPr/>
        </p:nvSpPr>
        <p:spPr>
          <a:xfrm>
            <a:off x="234000" y="5436000"/>
            <a:ext cx="6480000" cy="25020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54000" bIns="54000" anchor="t">
            <a:noAutofit/>
          </a:bodyPr>
          <a:p>
            <a:r>
              <a:rPr b="0" lang="en-US" sz="1000" spc="-1" strike="noStrike">
                <a:solidFill>
                  <a:srgbClr val="666666"/>
                </a:solidFill>
                <a:latin typeface="Arial"/>
              </a:rPr>
              <a:t>TPI-V3 · Sistemas Embebidos · UADE</a:t>
            </a:r>
            <a:endParaRPr b="0" lang="en-US" sz="1000" spc="-1" strike="noStrike">
              <a:solidFill>
                <a:srgbClr val="666666"/>
              </a:solidFill>
              <a:latin typeface="Arial"/>
            </a:endParaRPr>
          </a:p>
        </p:txBody>
      </p:sp>
      <p:sp>
        <p:nvSpPr>
          <p:cNvPr id="45" name=""/>
          <p:cNvSpPr txBox="1"/>
          <p:nvPr/>
        </p:nvSpPr>
        <p:spPr>
          <a:xfrm>
            <a:off x="9576000" y="5436000"/>
            <a:ext cx="252000" cy="25020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54000" bIns="54000" anchor="t">
            <a:noAutofit/>
          </a:bodyPr>
          <a:p>
            <a:pPr algn="just"/>
            <a:r>
              <a:rPr b="0" lang="en-US" sz="1000" spc="-1" strike="noStrike">
                <a:solidFill>
                  <a:srgbClr val="666666"/>
                </a:solidFill>
                <a:latin typeface="Arial"/>
              </a:rPr>
              <a:t>6</a:t>
            </a:r>
            <a:endParaRPr b="0" lang="en-US" sz="1000" spc="-1" strike="noStrike">
              <a:solidFill>
                <a:srgbClr val="666666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0"/>
            <a:ext cx="10080000" cy="540000"/>
          </a:xfrm>
          <a:prstGeom prst="rect">
            <a:avLst/>
          </a:prstGeom>
          <a:solidFill>
            <a:srgbClr val="17365d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"/>
          <p:cNvSpPr txBox="1"/>
          <p:nvPr/>
        </p:nvSpPr>
        <p:spPr>
          <a:xfrm>
            <a:off x="288000" y="90000"/>
            <a:ext cx="8640000" cy="43632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54000" bIns="54000" anchor="t">
            <a:noAutofit/>
          </a:bodyPr>
          <a:p>
            <a:r>
              <a:rPr b="1" lang="en-US" sz="2300" spc="-1" strike="noStrike">
                <a:solidFill>
                  <a:srgbClr val="ffffff"/>
                </a:solidFill>
                <a:latin typeface="Arial"/>
              </a:rPr>
              <a:t>Confiabilidad: ACK, reintentos y timeout</a:t>
            </a:r>
            <a:endParaRPr b="1" lang="en-US" sz="23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8" name="" descr=""/>
          <p:cNvPicPr/>
          <p:nvPr/>
        </p:nvPicPr>
        <p:blipFill>
          <a:blip r:embed="rId1"/>
          <a:stretch/>
        </p:blipFill>
        <p:spPr>
          <a:xfrm>
            <a:off x="5760000" y="900000"/>
            <a:ext cx="2700000" cy="3600000"/>
          </a:xfrm>
          <a:prstGeom prst="rect">
            <a:avLst/>
          </a:prstGeom>
          <a:ln w="0">
            <a:noFill/>
          </a:ln>
        </p:spPr>
      </p:pic>
      <p:sp>
        <p:nvSpPr>
          <p:cNvPr id="49" name=""/>
          <p:cNvSpPr txBox="1"/>
          <p:nvPr/>
        </p:nvSpPr>
        <p:spPr>
          <a:xfrm>
            <a:off x="324000" y="1008000"/>
            <a:ext cx="5040000" cy="253800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54000" bIns="54000" anchor="t">
            <a:noAutofit/>
          </a:bodyPr>
          <a:p>
            <a:r>
              <a:rPr b="0" lang="en-US" sz="1900" spc="-1" strike="noStrike">
                <a:solidFill>
                  <a:srgbClr val="202020"/>
                </a:solidFill>
                <a:latin typeface="Arial"/>
              </a:rPr>
              <a:t>• </a:t>
            </a:r>
            <a:r>
              <a:rPr b="0" lang="en-US" sz="1900" spc="-1" strike="noStrike">
                <a:solidFill>
                  <a:srgbClr val="202020"/>
                </a:solidFill>
                <a:latin typeface="Arial"/>
              </a:rPr>
              <a:t>EVT pendiente durante 500 ms.</a:t>
            </a:r>
            <a:endParaRPr b="0" lang="en-US" sz="1900" spc="-1" strike="noStrike">
              <a:solidFill>
                <a:srgbClr val="202020"/>
              </a:solidFill>
              <a:latin typeface="Arial"/>
            </a:endParaRPr>
          </a:p>
          <a:p>
            <a:r>
              <a:rPr b="0" lang="en-US" sz="1900" spc="-1" strike="noStrike">
                <a:solidFill>
                  <a:srgbClr val="202020"/>
                </a:solidFill>
                <a:latin typeface="Arial"/>
              </a:rPr>
              <a:t>• </a:t>
            </a:r>
            <a:r>
              <a:rPr b="0" lang="en-US" sz="1900" spc="-1" strike="noStrike">
                <a:solidFill>
                  <a:srgbClr val="202020"/>
                </a:solidFill>
                <a:latin typeface="Arial"/>
              </a:rPr>
              <a:t>Hasta 5 reenvíos del mismo evento.</a:t>
            </a:r>
            <a:endParaRPr b="0" lang="en-US" sz="1900" spc="-1" strike="noStrike">
              <a:solidFill>
                <a:srgbClr val="202020"/>
              </a:solidFill>
              <a:latin typeface="Arial"/>
            </a:endParaRPr>
          </a:p>
          <a:p>
            <a:r>
              <a:rPr b="0" lang="en-US" sz="1900" spc="-1" strike="noStrike">
                <a:solidFill>
                  <a:srgbClr val="202020"/>
                </a:solidFill>
                <a:latin typeface="Arial"/>
              </a:rPr>
              <a:t>• </a:t>
            </a:r>
            <a:r>
              <a:rPr b="0" lang="en-US" sz="1900" spc="-1" strike="noStrike">
                <a:solidFill>
                  <a:srgbClr val="202020"/>
                </a:solidFill>
                <a:latin typeface="Arial"/>
              </a:rPr>
              <a:t>A los 3 s: ERR:timeout y la caja sigue operando.</a:t>
            </a:r>
            <a:endParaRPr b="0" lang="en-US" sz="1900" spc="-1" strike="noStrike">
              <a:solidFill>
                <a:srgbClr val="202020"/>
              </a:solidFill>
              <a:latin typeface="Arial"/>
            </a:endParaRPr>
          </a:p>
          <a:p>
            <a:r>
              <a:rPr b="0" lang="en-US" sz="1900" spc="-1" strike="noStrike">
                <a:solidFill>
                  <a:srgbClr val="202020"/>
                </a:solidFill>
                <a:latin typeface="Arial"/>
              </a:rPr>
              <a:t>• </a:t>
            </a:r>
            <a:r>
              <a:rPr b="0" lang="en-US" sz="1900" spc="-1" strike="noStrike">
                <a:solidFill>
                  <a:srgbClr val="202020"/>
                </a:solidFill>
                <a:latin typeface="Arial"/>
              </a:rPr>
              <a:t>ACK tardío limpia el pendiente.</a:t>
            </a:r>
            <a:endParaRPr b="0" lang="en-US" sz="1900" spc="-1" strike="noStrike">
              <a:solidFill>
                <a:srgbClr val="202020"/>
              </a:solidFill>
              <a:latin typeface="Arial"/>
            </a:endParaRPr>
          </a:p>
          <a:p>
            <a:r>
              <a:rPr b="0" lang="en-US" sz="1900" spc="-1" strike="noStrike">
                <a:solidFill>
                  <a:srgbClr val="202020"/>
                </a:solidFill>
                <a:latin typeface="Arial"/>
              </a:rPr>
              <a:t>• </a:t>
            </a:r>
            <a:r>
              <a:rPr b="0" lang="en-US" sz="1900" spc="-1" strike="noStrike">
                <a:solidFill>
                  <a:srgbClr val="202020"/>
                </a:solidFill>
                <a:latin typeface="Arial"/>
              </a:rPr>
              <a:t>Probado por tests, simulación y UART física.</a:t>
            </a:r>
            <a:endParaRPr b="0" lang="en-US" sz="1900" spc="-1" strike="noStrike">
              <a:solidFill>
                <a:srgbClr val="202020"/>
              </a:solidFill>
              <a:latin typeface="Arial"/>
            </a:endParaRPr>
          </a:p>
        </p:txBody>
      </p:sp>
      <p:sp>
        <p:nvSpPr>
          <p:cNvPr id="50" name=""/>
          <p:cNvSpPr txBox="1"/>
          <p:nvPr/>
        </p:nvSpPr>
        <p:spPr>
          <a:xfrm>
            <a:off x="234000" y="5436000"/>
            <a:ext cx="6480000" cy="25020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54000" bIns="54000" anchor="t">
            <a:noAutofit/>
          </a:bodyPr>
          <a:p>
            <a:r>
              <a:rPr b="0" lang="en-US" sz="1000" spc="-1" strike="noStrike">
                <a:solidFill>
                  <a:srgbClr val="666666"/>
                </a:solidFill>
                <a:latin typeface="Arial"/>
              </a:rPr>
              <a:t>TPI-V3 · Sistemas Embebidos · UADE</a:t>
            </a:r>
            <a:endParaRPr b="0" lang="en-US" sz="1000" spc="-1" strike="noStrike">
              <a:solidFill>
                <a:srgbClr val="666666"/>
              </a:solidFill>
              <a:latin typeface="Arial"/>
            </a:endParaRPr>
          </a:p>
        </p:txBody>
      </p:sp>
      <p:sp>
        <p:nvSpPr>
          <p:cNvPr id="51" name=""/>
          <p:cNvSpPr txBox="1"/>
          <p:nvPr/>
        </p:nvSpPr>
        <p:spPr>
          <a:xfrm>
            <a:off x="9576000" y="5436000"/>
            <a:ext cx="252000" cy="25020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54000" bIns="54000" anchor="t">
            <a:noAutofit/>
          </a:bodyPr>
          <a:p>
            <a:pPr algn="just"/>
            <a:r>
              <a:rPr b="0" lang="en-US" sz="1000" spc="-1" strike="noStrike">
                <a:solidFill>
                  <a:srgbClr val="666666"/>
                </a:solidFill>
                <a:latin typeface="Arial"/>
              </a:rPr>
              <a:t>7</a:t>
            </a:r>
            <a:endParaRPr b="0" lang="en-US" sz="1000" spc="-1" strike="noStrike">
              <a:solidFill>
                <a:srgbClr val="666666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"/>
          <p:cNvSpPr/>
          <p:nvPr/>
        </p:nvSpPr>
        <p:spPr>
          <a:xfrm>
            <a:off x="0" y="0"/>
            <a:ext cx="10080000" cy="540000"/>
          </a:xfrm>
          <a:prstGeom prst="rect">
            <a:avLst/>
          </a:prstGeom>
          <a:solidFill>
            <a:srgbClr val="17365d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"/>
          <p:cNvSpPr txBox="1"/>
          <p:nvPr/>
        </p:nvSpPr>
        <p:spPr>
          <a:xfrm>
            <a:off x="288000" y="90000"/>
            <a:ext cx="8640000" cy="43632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54000" bIns="54000" anchor="t">
            <a:noAutofit/>
          </a:bodyPr>
          <a:p>
            <a:r>
              <a:rPr b="1" lang="en-US" sz="2300" spc="-1" strike="noStrike">
                <a:solidFill>
                  <a:srgbClr val="ffffff"/>
                </a:solidFill>
                <a:latin typeface="Arial"/>
              </a:rPr>
              <a:t>Implementación FreeRTOS</a:t>
            </a:r>
            <a:endParaRPr b="1" lang="en-US" sz="23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4" name="" descr=""/>
          <p:cNvPicPr/>
          <p:nvPr/>
        </p:nvPicPr>
        <p:blipFill>
          <a:blip r:embed="rId1"/>
          <a:stretch/>
        </p:blipFill>
        <p:spPr>
          <a:xfrm>
            <a:off x="5220000" y="864000"/>
            <a:ext cx="4320000" cy="2880000"/>
          </a:xfrm>
          <a:prstGeom prst="rect">
            <a:avLst/>
          </a:prstGeom>
          <a:ln w="0">
            <a:noFill/>
          </a:ln>
        </p:spPr>
      </p:pic>
      <p:sp>
        <p:nvSpPr>
          <p:cNvPr id="55" name=""/>
          <p:cNvSpPr txBox="1"/>
          <p:nvPr/>
        </p:nvSpPr>
        <p:spPr>
          <a:xfrm>
            <a:off x="324000" y="972000"/>
            <a:ext cx="4680000" cy="246600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54000" bIns="54000" anchor="t">
            <a:noAutofit/>
          </a:bodyPr>
          <a:p>
            <a:r>
              <a:rPr b="0" lang="en-US" sz="1900" spc="-1" strike="noStrike">
                <a:solidFill>
                  <a:srgbClr val="202020"/>
                </a:solidFill>
                <a:latin typeface="Arial"/>
              </a:rPr>
              <a:t>• </a:t>
            </a:r>
            <a:r>
              <a:rPr b="0" lang="en-US" sz="1900" spc="-1" strike="noStrike">
                <a:solidFill>
                  <a:srgbClr val="202020"/>
                </a:solidFill>
                <a:latin typeface="Arial"/>
              </a:rPr>
              <a:t>USART1 RX encola bytes.</a:t>
            </a:r>
            <a:endParaRPr b="0" lang="en-US" sz="1900" spc="-1" strike="noStrike">
              <a:solidFill>
                <a:srgbClr val="202020"/>
              </a:solidFill>
              <a:latin typeface="Arial"/>
            </a:endParaRPr>
          </a:p>
          <a:p>
            <a:r>
              <a:rPr b="0" lang="en-US" sz="1900" spc="-1" strike="noStrike">
                <a:solidFill>
                  <a:srgbClr val="202020"/>
                </a:solidFill>
                <a:latin typeface="Arial"/>
              </a:rPr>
              <a:t>• </a:t>
            </a:r>
            <a:r>
              <a:rPr b="0" lang="en-US" sz="1900" spc="-1" strike="noStrike">
                <a:solidFill>
                  <a:srgbClr val="202020"/>
                </a:solidFill>
                <a:latin typeface="Arial"/>
              </a:rPr>
              <a:t>EXTI1 arma el anti-rebote.</a:t>
            </a:r>
            <a:endParaRPr b="0" lang="en-US" sz="1900" spc="-1" strike="noStrike">
              <a:solidFill>
                <a:srgbClr val="202020"/>
              </a:solidFill>
              <a:latin typeface="Arial"/>
            </a:endParaRPr>
          </a:p>
          <a:p>
            <a:r>
              <a:rPr b="0" lang="en-US" sz="1900" spc="-1" strike="noStrike">
                <a:solidFill>
                  <a:srgbClr val="202020"/>
                </a:solidFill>
                <a:latin typeface="Arial"/>
              </a:rPr>
              <a:t>• </a:t>
            </a:r>
            <a:r>
              <a:rPr b="0" lang="en-US" sz="1900" spc="-1" strike="noStrike">
                <a:solidFill>
                  <a:srgbClr val="202020"/>
                </a:solidFill>
                <a:latin typeface="Arial"/>
              </a:rPr>
              <a:t>TIM3 aporta base de 1 ms.</a:t>
            </a:r>
            <a:endParaRPr b="0" lang="en-US" sz="1900" spc="-1" strike="noStrike">
              <a:solidFill>
                <a:srgbClr val="202020"/>
              </a:solidFill>
              <a:latin typeface="Arial"/>
            </a:endParaRPr>
          </a:p>
          <a:p>
            <a:r>
              <a:rPr b="0" lang="en-US" sz="1900" spc="-1" strike="noStrike">
                <a:solidFill>
                  <a:srgbClr val="202020"/>
                </a:solidFill>
                <a:latin typeface="Arial"/>
              </a:rPr>
              <a:t>• </a:t>
            </a:r>
            <a:r>
              <a:rPr b="0" lang="en-US" sz="1900" spc="-1" strike="noStrike">
                <a:solidFill>
                  <a:srgbClr val="202020"/>
                </a:solidFill>
                <a:latin typeface="Arial"/>
              </a:rPr>
              <a:t>task_rx_parser, task_app, task_signals y task_uart_tx.</a:t>
            </a:r>
            <a:endParaRPr b="0" lang="en-US" sz="1900" spc="-1" strike="noStrike">
              <a:solidFill>
                <a:srgbClr val="202020"/>
              </a:solidFill>
              <a:latin typeface="Arial"/>
            </a:endParaRPr>
          </a:p>
          <a:p>
            <a:r>
              <a:rPr b="0" lang="en-US" sz="1900" spc="-1" strike="noStrike">
                <a:solidFill>
                  <a:srgbClr val="202020"/>
                </a:solidFill>
                <a:latin typeface="Arial"/>
              </a:rPr>
              <a:t>• </a:t>
            </a:r>
            <a:r>
              <a:rPr b="0" lang="en-US" sz="1900" spc="-1" strike="noStrike">
                <a:solidFill>
                  <a:srgbClr val="202020"/>
                </a:solidFill>
                <a:latin typeface="Arial"/>
              </a:rPr>
              <a:t>Hooks de heap y stack para fallos diagnosticables.</a:t>
            </a:r>
            <a:endParaRPr b="0" lang="en-US" sz="1900" spc="-1" strike="noStrike">
              <a:solidFill>
                <a:srgbClr val="202020"/>
              </a:solidFill>
              <a:latin typeface="Arial"/>
            </a:endParaRPr>
          </a:p>
        </p:txBody>
      </p:sp>
      <p:sp>
        <p:nvSpPr>
          <p:cNvPr id="56" name=""/>
          <p:cNvSpPr txBox="1"/>
          <p:nvPr/>
        </p:nvSpPr>
        <p:spPr>
          <a:xfrm>
            <a:off x="234000" y="5436000"/>
            <a:ext cx="6480000" cy="25020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54000" bIns="54000" anchor="t">
            <a:noAutofit/>
          </a:bodyPr>
          <a:p>
            <a:r>
              <a:rPr b="0" lang="en-US" sz="1000" spc="-1" strike="noStrike">
                <a:solidFill>
                  <a:srgbClr val="666666"/>
                </a:solidFill>
                <a:latin typeface="Arial"/>
              </a:rPr>
              <a:t>TPI-V3 · Sistemas Embebidos · UADE</a:t>
            </a:r>
            <a:endParaRPr b="0" lang="en-US" sz="1000" spc="-1" strike="noStrike">
              <a:solidFill>
                <a:srgbClr val="666666"/>
              </a:solidFill>
              <a:latin typeface="Arial"/>
            </a:endParaRPr>
          </a:p>
        </p:txBody>
      </p:sp>
      <p:sp>
        <p:nvSpPr>
          <p:cNvPr id="57" name=""/>
          <p:cNvSpPr txBox="1"/>
          <p:nvPr/>
        </p:nvSpPr>
        <p:spPr>
          <a:xfrm>
            <a:off x="9576000" y="5436000"/>
            <a:ext cx="252000" cy="25020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54000" bIns="54000" anchor="t">
            <a:noAutofit/>
          </a:bodyPr>
          <a:p>
            <a:pPr algn="just"/>
            <a:r>
              <a:rPr b="0" lang="en-US" sz="1000" spc="-1" strike="noStrike">
                <a:solidFill>
                  <a:srgbClr val="666666"/>
                </a:solidFill>
                <a:latin typeface="Arial"/>
              </a:rPr>
              <a:t>8</a:t>
            </a:r>
            <a:endParaRPr b="0" lang="en-US" sz="1000" spc="-1" strike="noStrike">
              <a:solidFill>
                <a:srgbClr val="666666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"/>
          <p:cNvSpPr/>
          <p:nvPr/>
        </p:nvSpPr>
        <p:spPr>
          <a:xfrm>
            <a:off x="0" y="0"/>
            <a:ext cx="10080000" cy="540000"/>
          </a:xfrm>
          <a:prstGeom prst="rect">
            <a:avLst/>
          </a:prstGeom>
          <a:solidFill>
            <a:srgbClr val="17365d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"/>
          <p:cNvSpPr txBox="1"/>
          <p:nvPr/>
        </p:nvSpPr>
        <p:spPr>
          <a:xfrm>
            <a:off x="288000" y="90000"/>
            <a:ext cx="8640000" cy="43632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54000" bIns="54000" anchor="t">
            <a:noAutofit/>
          </a:bodyPr>
          <a:p>
            <a:r>
              <a:rPr b="1" lang="en-US" sz="2300" spc="-1" strike="noStrike">
                <a:solidFill>
                  <a:srgbClr val="ffffff"/>
                </a:solidFill>
                <a:latin typeface="Arial"/>
              </a:rPr>
              <a:t>Montaje y evidencia física</a:t>
            </a:r>
            <a:endParaRPr b="1" lang="en-US" sz="23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60" name="" descr=""/>
          <p:cNvPicPr/>
          <p:nvPr/>
        </p:nvPicPr>
        <p:blipFill>
          <a:blip r:embed="rId1"/>
          <a:stretch/>
        </p:blipFill>
        <p:spPr>
          <a:xfrm>
            <a:off x="1080000" y="756000"/>
            <a:ext cx="2160000" cy="3780000"/>
          </a:xfrm>
          <a:prstGeom prst="rect">
            <a:avLst/>
          </a:prstGeom>
          <a:ln w="0">
            <a:noFill/>
          </a:ln>
        </p:spPr>
      </p:pic>
      <p:pic>
        <p:nvPicPr>
          <p:cNvPr id="61" name="" descr=""/>
          <p:cNvPicPr/>
          <p:nvPr/>
        </p:nvPicPr>
        <p:blipFill>
          <a:blip r:embed="rId2"/>
          <a:stretch/>
        </p:blipFill>
        <p:spPr>
          <a:xfrm>
            <a:off x="4320000" y="936000"/>
            <a:ext cx="1980000" cy="3420000"/>
          </a:xfrm>
          <a:prstGeom prst="rect">
            <a:avLst/>
          </a:prstGeom>
          <a:ln w="0">
            <a:noFill/>
          </a:ln>
        </p:spPr>
      </p:pic>
      <p:pic>
        <p:nvPicPr>
          <p:cNvPr id="62" name="" descr=""/>
          <p:cNvPicPr/>
          <p:nvPr/>
        </p:nvPicPr>
        <p:blipFill>
          <a:blip r:embed="rId3"/>
          <a:stretch/>
        </p:blipFill>
        <p:spPr>
          <a:xfrm>
            <a:off x="7020000" y="936000"/>
            <a:ext cx="1980000" cy="3420000"/>
          </a:xfrm>
          <a:prstGeom prst="rect">
            <a:avLst/>
          </a:prstGeom>
          <a:ln w="0">
            <a:noFill/>
          </a:ln>
        </p:spPr>
      </p:pic>
      <p:sp>
        <p:nvSpPr>
          <p:cNvPr id="63" name=""/>
          <p:cNvSpPr txBox="1"/>
          <p:nvPr/>
        </p:nvSpPr>
        <p:spPr>
          <a:xfrm>
            <a:off x="900000" y="4752000"/>
            <a:ext cx="8280000" cy="33408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54000" bIns="54000" anchor="t">
            <a:noAutofit/>
          </a:bodyPr>
          <a:p>
            <a:pPr algn="r"/>
            <a:r>
              <a:rPr b="0" lang="en-US" sz="1600" spc="-1" strike="noStrike">
                <a:solidFill>
                  <a:srgbClr val="202020"/>
                </a:solidFill>
                <a:latin typeface="Arial"/>
              </a:rPr>
              <a:t>Montaje · operación de periféricos · confirmación ACK</a:t>
            </a:r>
            <a:endParaRPr b="0" lang="en-US" sz="1600" spc="-1" strike="noStrike">
              <a:solidFill>
                <a:srgbClr val="202020"/>
              </a:solidFill>
              <a:latin typeface="Arial"/>
            </a:endParaRPr>
          </a:p>
        </p:txBody>
      </p:sp>
      <p:sp>
        <p:nvSpPr>
          <p:cNvPr id="64" name=""/>
          <p:cNvSpPr txBox="1"/>
          <p:nvPr/>
        </p:nvSpPr>
        <p:spPr>
          <a:xfrm>
            <a:off x="234000" y="5436000"/>
            <a:ext cx="6480000" cy="25020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54000" bIns="54000" anchor="t">
            <a:noAutofit/>
          </a:bodyPr>
          <a:p>
            <a:r>
              <a:rPr b="0" lang="en-US" sz="1000" spc="-1" strike="noStrike">
                <a:solidFill>
                  <a:srgbClr val="666666"/>
                </a:solidFill>
                <a:latin typeface="Arial"/>
              </a:rPr>
              <a:t>TPI-V3 · Sistemas Embebidos · UADE</a:t>
            </a:r>
            <a:endParaRPr b="0" lang="en-US" sz="1000" spc="-1" strike="noStrike">
              <a:solidFill>
                <a:srgbClr val="666666"/>
              </a:solidFill>
              <a:latin typeface="Arial"/>
            </a:endParaRPr>
          </a:p>
        </p:txBody>
      </p:sp>
      <p:sp>
        <p:nvSpPr>
          <p:cNvPr id="65" name=""/>
          <p:cNvSpPr txBox="1"/>
          <p:nvPr/>
        </p:nvSpPr>
        <p:spPr>
          <a:xfrm>
            <a:off x="9576000" y="5436000"/>
            <a:ext cx="252000" cy="25020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54000" bIns="54000" anchor="t">
            <a:noAutofit/>
          </a:bodyPr>
          <a:p>
            <a:pPr algn="just"/>
            <a:r>
              <a:rPr b="0" lang="en-US" sz="1000" spc="-1" strike="noStrike">
                <a:solidFill>
                  <a:srgbClr val="666666"/>
                </a:solidFill>
                <a:latin typeface="Arial"/>
              </a:rPr>
              <a:t>9</a:t>
            </a:r>
            <a:endParaRPr b="0" lang="en-US" sz="1000" spc="-1" strike="noStrike">
              <a:solidFill>
                <a:srgbClr val="666666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"/>
          <p:cNvSpPr/>
          <p:nvPr/>
        </p:nvSpPr>
        <p:spPr>
          <a:xfrm>
            <a:off x="0" y="0"/>
            <a:ext cx="10080000" cy="540000"/>
          </a:xfrm>
          <a:prstGeom prst="rect">
            <a:avLst/>
          </a:prstGeom>
          <a:solidFill>
            <a:srgbClr val="17365d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" name=""/>
          <p:cNvSpPr txBox="1"/>
          <p:nvPr/>
        </p:nvSpPr>
        <p:spPr>
          <a:xfrm>
            <a:off x="288000" y="90000"/>
            <a:ext cx="8640000" cy="43632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54000" bIns="54000" anchor="t">
            <a:noAutofit/>
          </a:bodyPr>
          <a:p>
            <a:r>
              <a:rPr b="1" lang="en-US" sz="2300" spc="-1" strike="noStrike">
                <a:solidFill>
                  <a:srgbClr val="ffffff"/>
                </a:solidFill>
                <a:latin typeface="Arial"/>
              </a:rPr>
              <a:t>Etapa 4 — Integración con el robot</a:t>
            </a:r>
            <a:endParaRPr b="1" lang="en-US" sz="23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68" name="" descr=""/>
          <p:cNvPicPr/>
          <p:nvPr/>
        </p:nvPicPr>
        <p:blipFill>
          <a:blip r:embed="rId1"/>
          <a:stretch/>
        </p:blipFill>
        <p:spPr>
          <a:xfrm>
            <a:off x="5940000" y="936000"/>
            <a:ext cx="3060000" cy="2520000"/>
          </a:xfrm>
          <a:prstGeom prst="rect">
            <a:avLst/>
          </a:prstGeom>
          <a:ln w="0">
            <a:noFill/>
          </a:ln>
        </p:spPr>
      </p:pic>
      <p:sp>
        <p:nvSpPr>
          <p:cNvPr id="69" name=""/>
          <p:cNvSpPr txBox="1"/>
          <p:nvPr/>
        </p:nvSpPr>
        <p:spPr>
          <a:xfrm>
            <a:off x="324000" y="1044000"/>
            <a:ext cx="5220000" cy="235800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54000" bIns="54000" anchor="t">
            <a:noAutofit/>
          </a:bodyPr>
          <a:p>
            <a:r>
              <a:rPr b="0" lang="en-US" sz="1900" spc="-1" strike="noStrike">
                <a:solidFill>
                  <a:srgbClr val="202020"/>
                </a:solidFill>
                <a:latin typeface="Arial"/>
              </a:rPr>
              <a:t>• </a:t>
            </a:r>
            <a:r>
              <a:rPr b="0" lang="en-US" sz="1900" spc="-1" strike="noStrike">
                <a:solidFill>
                  <a:srgbClr val="202020"/>
                </a:solidFill>
                <a:latin typeface="Arial"/>
              </a:rPr>
              <a:t>Validado: firmware, UART, parser, periféricos y reintentos.</a:t>
            </a:r>
            <a:endParaRPr b="0" lang="en-US" sz="1900" spc="-1" strike="noStrike">
              <a:solidFill>
                <a:srgbClr val="202020"/>
              </a:solidFill>
              <a:latin typeface="Arial"/>
            </a:endParaRPr>
          </a:p>
          <a:p>
            <a:r>
              <a:rPr b="0" lang="en-US" sz="1900" spc="-1" strike="noStrike">
                <a:solidFill>
                  <a:srgbClr val="202020"/>
                </a:solidFill>
                <a:latin typeface="Arial"/>
              </a:rPr>
              <a:t>• </a:t>
            </a:r>
            <a:r>
              <a:rPr b="0" lang="en-US" sz="1900" spc="-1" strike="noStrike">
                <a:solidFill>
                  <a:srgbClr val="202020"/>
                </a:solidFill>
                <a:latin typeface="Arial"/>
              </a:rPr>
              <a:t>Pendiente de laboratorio: tópicos ROS 2 y latencia extremo a extremo.</a:t>
            </a:r>
            <a:endParaRPr b="0" lang="en-US" sz="1900" spc="-1" strike="noStrike">
              <a:solidFill>
                <a:srgbClr val="202020"/>
              </a:solidFill>
              <a:latin typeface="Arial"/>
            </a:endParaRPr>
          </a:p>
          <a:p>
            <a:r>
              <a:rPr b="0" lang="en-US" sz="1900" spc="-1" strike="noStrike">
                <a:solidFill>
                  <a:srgbClr val="202020"/>
                </a:solidFill>
                <a:latin typeface="Arial"/>
              </a:rPr>
              <a:t>• </a:t>
            </a:r>
            <a:r>
              <a:rPr b="0" lang="en-US" sz="1900" spc="-1" strike="noStrike">
                <a:solidFill>
                  <a:srgbClr val="202020"/>
                </a:solidFill>
                <a:latin typeface="Arial"/>
              </a:rPr>
              <a:t>No se fabrican mediciones del bridge o del robot.</a:t>
            </a:r>
            <a:endParaRPr b="0" lang="en-US" sz="1900" spc="-1" strike="noStrike">
              <a:solidFill>
                <a:srgbClr val="202020"/>
              </a:solidFill>
              <a:latin typeface="Arial"/>
            </a:endParaRPr>
          </a:p>
          <a:p>
            <a:r>
              <a:rPr b="0" lang="en-US" sz="1900" spc="-1" strike="noStrike">
                <a:solidFill>
                  <a:srgbClr val="202020"/>
                </a:solidFill>
                <a:latin typeface="Arial"/>
              </a:rPr>
              <a:t>• </a:t>
            </a:r>
            <a:r>
              <a:rPr b="0" lang="en-US" sz="1900" spc="-1" strike="noStrike">
                <a:solidFill>
                  <a:srgbClr val="202020"/>
                </a:solidFill>
                <a:latin typeface="Arial"/>
              </a:rPr>
              <a:t>La defensa puede demostrar el prototipo, las tramas y los videos.</a:t>
            </a:r>
            <a:endParaRPr b="0" lang="en-US" sz="1900" spc="-1" strike="noStrike">
              <a:solidFill>
                <a:srgbClr val="202020"/>
              </a:solidFill>
              <a:latin typeface="Arial"/>
            </a:endParaRPr>
          </a:p>
        </p:txBody>
      </p:sp>
      <p:sp>
        <p:nvSpPr>
          <p:cNvPr id="70" name=""/>
          <p:cNvSpPr txBox="1"/>
          <p:nvPr/>
        </p:nvSpPr>
        <p:spPr>
          <a:xfrm>
            <a:off x="234000" y="5436000"/>
            <a:ext cx="6480000" cy="25020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54000" bIns="54000" anchor="t">
            <a:noAutofit/>
          </a:bodyPr>
          <a:p>
            <a:r>
              <a:rPr b="0" lang="en-US" sz="1000" spc="-1" strike="noStrike">
                <a:solidFill>
                  <a:srgbClr val="666666"/>
                </a:solidFill>
                <a:latin typeface="Arial"/>
              </a:rPr>
              <a:t>TPI-V3 · Sistemas Embebidos · UADE</a:t>
            </a:r>
            <a:endParaRPr b="0" lang="en-US" sz="1000" spc="-1" strike="noStrike">
              <a:solidFill>
                <a:srgbClr val="666666"/>
              </a:solidFill>
              <a:latin typeface="Arial"/>
            </a:endParaRPr>
          </a:p>
        </p:txBody>
      </p:sp>
      <p:sp>
        <p:nvSpPr>
          <p:cNvPr id="71" name=""/>
          <p:cNvSpPr txBox="1"/>
          <p:nvPr/>
        </p:nvSpPr>
        <p:spPr>
          <a:xfrm>
            <a:off x="9576000" y="5436000"/>
            <a:ext cx="252000" cy="39204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54000" bIns="54000" anchor="t">
            <a:noAutofit/>
          </a:bodyPr>
          <a:p>
            <a:pPr algn="just"/>
            <a:r>
              <a:rPr b="0" lang="en-US" sz="1000" spc="-1" strike="noStrike">
                <a:solidFill>
                  <a:srgbClr val="666666"/>
                </a:solidFill>
                <a:latin typeface="Arial"/>
              </a:rPr>
              <a:t>10</a:t>
            </a:r>
            <a:endParaRPr b="0" lang="en-US" sz="1000" spc="-1" strike="noStrike">
              <a:solidFill>
                <a:srgbClr val="666666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"/>
          <p:cNvSpPr/>
          <p:nvPr/>
        </p:nvSpPr>
        <p:spPr>
          <a:xfrm>
            <a:off x="0" y="0"/>
            <a:ext cx="10080000" cy="540000"/>
          </a:xfrm>
          <a:prstGeom prst="rect">
            <a:avLst/>
          </a:prstGeom>
          <a:solidFill>
            <a:srgbClr val="17365d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" name=""/>
          <p:cNvSpPr txBox="1"/>
          <p:nvPr/>
        </p:nvSpPr>
        <p:spPr>
          <a:xfrm>
            <a:off x="288000" y="90000"/>
            <a:ext cx="8640000" cy="43632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54000" bIns="54000" anchor="t">
            <a:noAutofit/>
          </a:bodyPr>
          <a:p>
            <a:r>
              <a:rPr b="1" lang="en-US" sz="2300" spc="-1" strike="noStrike">
                <a:solidFill>
                  <a:srgbClr val="ffffff"/>
                </a:solidFill>
                <a:latin typeface="Arial"/>
              </a:rPr>
              <a:t>Diagramas Lucidchart — placeholders</a:t>
            </a:r>
            <a:endParaRPr b="1" lang="en-US" sz="23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4" name="" descr=""/>
          <p:cNvPicPr/>
          <p:nvPr/>
        </p:nvPicPr>
        <p:blipFill>
          <a:blip r:embed="rId1"/>
          <a:stretch/>
        </p:blipFill>
        <p:spPr>
          <a:xfrm>
            <a:off x="360000" y="828000"/>
            <a:ext cx="2736000" cy="1800000"/>
          </a:xfrm>
          <a:prstGeom prst="rect">
            <a:avLst/>
          </a:prstGeom>
          <a:ln w="0">
            <a:noFill/>
          </a:ln>
        </p:spPr>
      </p:pic>
      <p:pic>
        <p:nvPicPr>
          <p:cNvPr id="75" name="" descr=""/>
          <p:cNvPicPr/>
          <p:nvPr/>
        </p:nvPicPr>
        <p:blipFill>
          <a:blip r:embed="rId2"/>
          <a:stretch/>
        </p:blipFill>
        <p:spPr>
          <a:xfrm>
            <a:off x="3528000" y="828000"/>
            <a:ext cx="2736000" cy="1800000"/>
          </a:xfrm>
          <a:prstGeom prst="rect">
            <a:avLst/>
          </a:prstGeom>
          <a:ln w="0">
            <a:noFill/>
          </a:ln>
        </p:spPr>
      </p:pic>
      <p:pic>
        <p:nvPicPr>
          <p:cNvPr id="76" name="" descr=""/>
          <p:cNvPicPr/>
          <p:nvPr/>
        </p:nvPicPr>
        <p:blipFill>
          <a:blip r:embed="rId3"/>
          <a:stretch/>
        </p:blipFill>
        <p:spPr>
          <a:xfrm>
            <a:off x="6696000" y="828000"/>
            <a:ext cx="2736000" cy="1800000"/>
          </a:xfrm>
          <a:prstGeom prst="rect">
            <a:avLst/>
          </a:prstGeom>
          <a:ln w="0">
            <a:noFill/>
          </a:ln>
        </p:spPr>
      </p:pic>
      <p:sp>
        <p:nvSpPr>
          <p:cNvPr id="77" name=""/>
          <p:cNvSpPr txBox="1"/>
          <p:nvPr/>
        </p:nvSpPr>
        <p:spPr>
          <a:xfrm>
            <a:off x="648000" y="4500000"/>
            <a:ext cx="8640000" cy="55980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54000" bIns="54000" anchor="t">
            <a:noAutofit/>
          </a:bodyPr>
          <a:p>
            <a:pPr algn="r"/>
            <a:r>
              <a:rPr b="0" lang="en-US" sz="1600" spc="-1" strike="noStrike">
                <a:solidFill>
                  <a:srgbClr val="202020"/>
                </a:solidFill>
                <a:latin typeface="Arial"/>
              </a:rPr>
              <a:t>Usarlos como apoyo narrativo; los diagramas propios y el código son la referencia técnica vigente.</a:t>
            </a:r>
            <a:endParaRPr b="0" lang="en-US" sz="1600" spc="-1" strike="noStrike">
              <a:solidFill>
                <a:srgbClr val="202020"/>
              </a:solidFill>
              <a:latin typeface="Arial"/>
            </a:endParaRPr>
          </a:p>
        </p:txBody>
      </p:sp>
      <p:sp>
        <p:nvSpPr>
          <p:cNvPr id="78" name=""/>
          <p:cNvSpPr txBox="1"/>
          <p:nvPr/>
        </p:nvSpPr>
        <p:spPr>
          <a:xfrm>
            <a:off x="234000" y="5436000"/>
            <a:ext cx="6480000" cy="25020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54000" bIns="54000" anchor="t">
            <a:noAutofit/>
          </a:bodyPr>
          <a:p>
            <a:r>
              <a:rPr b="0" lang="en-US" sz="1000" spc="-1" strike="noStrike">
                <a:solidFill>
                  <a:srgbClr val="666666"/>
                </a:solidFill>
                <a:latin typeface="Arial"/>
              </a:rPr>
              <a:t>TPI-V3 · Sistemas Embebidos · UADE</a:t>
            </a:r>
            <a:endParaRPr b="0" lang="en-US" sz="1000" spc="-1" strike="noStrike">
              <a:solidFill>
                <a:srgbClr val="666666"/>
              </a:solidFill>
              <a:latin typeface="Arial"/>
            </a:endParaRPr>
          </a:p>
        </p:txBody>
      </p:sp>
      <p:sp>
        <p:nvSpPr>
          <p:cNvPr id="79" name=""/>
          <p:cNvSpPr txBox="1"/>
          <p:nvPr/>
        </p:nvSpPr>
        <p:spPr>
          <a:xfrm>
            <a:off x="9576000" y="5436000"/>
            <a:ext cx="252000" cy="39204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54000" bIns="54000" anchor="t">
            <a:noAutofit/>
          </a:bodyPr>
          <a:p>
            <a:pPr algn="just"/>
            <a:r>
              <a:rPr b="0" lang="en-US" sz="1000" spc="-1" strike="noStrike">
                <a:solidFill>
                  <a:srgbClr val="666666"/>
                </a:solidFill>
                <a:latin typeface="Arial"/>
              </a:rPr>
              <a:t>11</a:t>
            </a:r>
            <a:endParaRPr b="0" lang="en-US" sz="1000" spc="-1" strike="noStrike">
              <a:solidFill>
                <a:srgbClr val="666666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"/>
          <p:cNvSpPr/>
          <p:nvPr/>
        </p:nvSpPr>
        <p:spPr>
          <a:xfrm>
            <a:off x="0" y="0"/>
            <a:ext cx="10080000" cy="540000"/>
          </a:xfrm>
          <a:prstGeom prst="rect">
            <a:avLst/>
          </a:prstGeom>
          <a:solidFill>
            <a:srgbClr val="17365d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" name=""/>
          <p:cNvSpPr txBox="1"/>
          <p:nvPr/>
        </p:nvSpPr>
        <p:spPr>
          <a:xfrm>
            <a:off x="288000" y="90000"/>
            <a:ext cx="8640000" cy="43632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54000" bIns="54000" anchor="t">
            <a:noAutofit/>
          </a:bodyPr>
          <a:p>
            <a:r>
              <a:rPr b="1" lang="en-US" sz="2300" spc="-1" strike="noStrike">
                <a:solidFill>
                  <a:srgbClr val="ffffff"/>
                </a:solidFill>
                <a:latin typeface="Arial"/>
              </a:rPr>
              <a:t>Validación y calidad</a:t>
            </a:r>
            <a:endParaRPr b="1" lang="en-US" sz="23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82" name="" descr=""/>
          <p:cNvPicPr/>
          <p:nvPr/>
        </p:nvPicPr>
        <p:blipFill>
          <a:blip r:embed="rId1"/>
          <a:stretch/>
        </p:blipFill>
        <p:spPr>
          <a:xfrm>
            <a:off x="5652000" y="864000"/>
            <a:ext cx="3420000" cy="2700000"/>
          </a:xfrm>
          <a:prstGeom prst="rect">
            <a:avLst/>
          </a:prstGeom>
          <a:ln w="0">
            <a:noFill/>
          </a:ln>
        </p:spPr>
      </p:pic>
      <p:sp>
        <p:nvSpPr>
          <p:cNvPr id="83" name=""/>
          <p:cNvSpPr txBox="1"/>
          <p:nvPr/>
        </p:nvSpPr>
        <p:spPr>
          <a:xfrm>
            <a:off x="324000" y="1008000"/>
            <a:ext cx="5040000" cy="235800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54000" bIns="54000" anchor="t">
            <a:noAutofit/>
          </a:bodyPr>
          <a:p>
            <a:r>
              <a:rPr b="0" lang="en-US" sz="1900" spc="-1" strike="noStrike">
                <a:solidFill>
                  <a:srgbClr val="202020"/>
                </a:solidFill>
                <a:latin typeface="Arial"/>
              </a:rPr>
              <a:t>• </a:t>
            </a:r>
            <a:r>
              <a:rPr b="0" lang="en-US" sz="1900" spc="-1" strike="noStrike">
                <a:solidFill>
                  <a:srgbClr val="202020"/>
                </a:solidFill>
                <a:latin typeface="Arial"/>
              </a:rPr>
              <a:t>67 tests de host: protocolo, parser, variante y señales.</a:t>
            </a:r>
            <a:endParaRPr b="0" lang="en-US" sz="1900" spc="-1" strike="noStrike">
              <a:solidFill>
                <a:srgbClr val="202020"/>
              </a:solidFill>
              <a:latin typeface="Arial"/>
            </a:endParaRPr>
          </a:p>
          <a:p>
            <a:r>
              <a:rPr b="0" lang="en-US" sz="1900" spc="-1" strike="noStrike">
                <a:solidFill>
                  <a:srgbClr val="202020"/>
                </a:solidFill>
                <a:latin typeface="Arial"/>
              </a:rPr>
              <a:t>• </a:t>
            </a:r>
            <a:r>
              <a:rPr b="0" lang="en-US" sz="1900" spc="-1" strike="noStrike">
                <a:solidFill>
                  <a:srgbClr val="202020"/>
                </a:solidFill>
                <a:latin typeface="Arial"/>
              </a:rPr>
              <a:t>CI: make test + compilación ARM + tamaño.</a:t>
            </a:r>
            <a:endParaRPr b="0" lang="en-US" sz="1900" spc="-1" strike="noStrike">
              <a:solidFill>
                <a:srgbClr val="202020"/>
              </a:solidFill>
              <a:latin typeface="Arial"/>
            </a:endParaRPr>
          </a:p>
          <a:p>
            <a:r>
              <a:rPr b="0" lang="en-US" sz="1900" spc="-1" strike="noStrike">
                <a:solidFill>
                  <a:srgbClr val="202020"/>
                </a:solidFill>
                <a:latin typeface="Arial"/>
              </a:rPr>
              <a:t>• </a:t>
            </a:r>
            <a:r>
              <a:rPr b="0" lang="en-US" sz="1900" spc="-1" strike="noStrike">
                <a:solidFill>
                  <a:srgbClr val="202020"/>
                </a:solidFill>
                <a:latin typeface="Arial"/>
              </a:rPr>
              <a:t>Simulación: bridge responde ACK o fuerza timeout.</a:t>
            </a:r>
            <a:endParaRPr b="0" lang="en-US" sz="1900" spc="-1" strike="noStrike">
              <a:solidFill>
                <a:srgbClr val="202020"/>
              </a:solidFill>
              <a:latin typeface="Arial"/>
            </a:endParaRPr>
          </a:p>
          <a:p>
            <a:r>
              <a:rPr b="0" lang="en-US" sz="1900" spc="-1" strike="noStrike">
                <a:solidFill>
                  <a:srgbClr val="202020"/>
                </a:solidFill>
                <a:latin typeface="Arial"/>
              </a:rPr>
              <a:t>• </a:t>
            </a:r>
            <a:r>
              <a:rPr b="0" lang="en-US" sz="1900" spc="-1" strike="noStrike">
                <a:solidFill>
                  <a:srgbClr val="202020"/>
                </a:solidFill>
                <a:latin typeface="Arial"/>
              </a:rPr>
              <a:t>Hardware: LED, buzzer, botón, ADC y UART.</a:t>
            </a:r>
            <a:endParaRPr b="0" lang="en-US" sz="1900" spc="-1" strike="noStrike">
              <a:solidFill>
                <a:srgbClr val="202020"/>
              </a:solidFill>
              <a:latin typeface="Arial"/>
            </a:endParaRPr>
          </a:p>
        </p:txBody>
      </p:sp>
      <p:sp>
        <p:nvSpPr>
          <p:cNvPr id="84" name=""/>
          <p:cNvSpPr txBox="1"/>
          <p:nvPr/>
        </p:nvSpPr>
        <p:spPr>
          <a:xfrm>
            <a:off x="6120000" y="3888000"/>
            <a:ext cx="3240000" cy="41940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54000" bIns="54000" anchor="t">
            <a:noAutofit/>
          </a:bodyPr>
          <a:p>
            <a:pPr algn="r"/>
            <a:r>
              <a:rPr b="0" lang="en-US" sz="1100" spc="-1" strike="noStrike">
                <a:solidFill>
                  <a:srgbClr val="666666"/>
                </a:solidFill>
                <a:latin typeface="Arial"/>
              </a:rPr>
              <a:t>Placeholder Lucidchart — consolidar versión final</a:t>
            </a:r>
            <a:endParaRPr b="0" lang="en-US" sz="1100" spc="-1" strike="noStrike">
              <a:solidFill>
                <a:srgbClr val="666666"/>
              </a:solidFill>
              <a:latin typeface="Arial"/>
            </a:endParaRPr>
          </a:p>
        </p:txBody>
      </p:sp>
      <p:sp>
        <p:nvSpPr>
          <p:cNvPr id="85" name=""/>
          <p:cNvSpPr txBox="1"/>
          <p:nvPr/>
        </p:nvSpPr>
        <p:spPr>
          <a:xfrm>
            <a:off x="234000" y="5436000"/>
            <a:ext cx="6480000" cy="25020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54000" bIns="54000" anchor="t">
            <a:noAutofit/>
          </a:bodyPr>
          <a:p>
            <a:r>
              <a:rPr b="0" lang="en-US" sz="1000" spc="-1" strike="noStrike">
                <a:solidFill>
                  <a:srgbClr val="666666"/>
                </a:solidFill>
                <a:latin typeface="Arial"/>
              </a:rPr>
              <a:t>TPI-V3 · Sistemas Embebidos · UADE</a:t>
            </a:r>
            <a:endParaRPr b="0" lang="en-US" sz="1000" spc="-1" strike="noStrike">
              <a:solidFill>
                <a:srgbClr val="666666"/>
              </a:solidFill>
              <a:latin typeface="Arial"/>
            </a:endParaRPr>
          </a:p>
        </p:txBody>
      </p:sp>
      <p:sp>
        <p:nvSpPr>
          <p:cNvPr id="86" name=""/>
          <p:cNvSpPr txBox="1"/>
          <p:nvPr/>
        </p:nvSpPr>
        <p:spPr>
          <a:xfrm>
            <a:off x="9576000" y="5436000"/>
            <a:ext cx="252000" cy="39204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54000" bIns="54000" anchor="t">
            <a:noAutofit/>
          </a:bodyPr>
          <a:p>
            <a:pPr algn="just"/>
            <a:r>
              <a:rPr b="0" lang="en-US" sz="1000" spc="-1" strike="noStrike">
                <a:solidFill>
                  <a:srgbClr val="666666"/>
                </a:solidFill>
                <a:latin typeface="Arial"/>
              </a:rPr>
              <a:t>12</a:t>
            </a:r>
            <a:endParaRPr b="0" lang="en-US" sz="1000" spc="-1" strike="noStrike">
              <a:solidFill>
                <a:srgbClr val="666666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"/>
          <p:cNvSpPr/>
          <p:nvPr/>
        </p:nvSpPr>
        <p:spPr>
          <a:xfrm>
            <a:off x="0" y="0"/>
            <a:ext cx="10080000" cy="540000"/>
          </a:xfrm>
          <a:prstGeom prst="rect">
            <a:avLst/>
          </a:prstGeom>
          <a:solidFill>
            <a:srgbClr val="17365d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" name=""/>
          <p:cNvSpPr txBox="1"/>
          <p:nvPr/>
        </p:nvSpPr>
        <p:spPr>
          <a:xfrm>
            <a:off x="288000" y="90000"/>
            <a:ext cx="8640000" cy="43632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54000" bIns="54000" anchor="t">
            <a:noAutofit/>
          </a:bodyPr>
          <a:p>
            <a:r>
              <a:rPr b="1" lang="en-US" sz="2300" spc="-1" strike="noStrike">
                <a:solidFill>
                  <a:srgbClr val="ffffff"/>
                </a:solidFill>
                <a:latin typeface="Arial"/>
              </a:rPr>
              <a:t>Cierre y guion de demostración</a:t>
            </a:r>
            <a:endParaRPr b="1" lang="en-US" sz="2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" name=""/>
          <p:cNvSpPr txBox="1"/>
          <p:nvPr/>
        </p:nvSpPr>
        <p:spPr>
          <a:xfrm>
            <a:off x="648000" y="1008000"/>
            <a:ext cx="8280000" cy="253800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54000" bIns="54000" anchor="t">
            <a:noAutofit/>
          </a:bodyPr>
          <a:p>
            <a:r>
              <a:rPr b="0" lang="en-US" sz="2400" spc="-1" strike="noStrike">
                <a:solidFill>
                  <a:srgbClr val="202020"/>
                </a:solidFill>
                <a:latin typeface="Arial"/>
              </a:rPr>
              <a:t>• </a:t>
            </a:r>
            <a:r>
              <a:rPr b="0" lang="en-US" sz="2400" spc="-1" strike="noStrike">
                <a:solidFill>
                  <a:srgbClr val="202020"/>
                </a:solidFill>
                <a:latin typeface="Arial"/>
              </a:rPr>
              <a:t>1. Presentar el montaje y el objetivo.</a:t>
            </a:r>
            <a:endParaRPr b="0" lang="en-US" sz="2400" spc="-1" strike="noStrike">
              <a:solidFill>
                <a:srgbClr val="202020"/>
              </a:solidFill>
              <a:latin typeface="Arial"/>
            </a:endParaRPr>
          </a:p>
          <a:p>
            <a:r>
              <a:rPr b="0" lang="en-US" sz="2400" spc="-1" strike="noStrike">
                <a:solidFill>
                  <a:srgbClr val="202020"/>
                </a:solidFill>
                <a:latin typeface="Arial"/>
              </a:rPr>
              <a:t>• </a:t>
            </a:r>
            <a:r>
              <a:rPr b="0" lang="en-US" sz="2400" spc="-1" strike="noStrike">
                <a:solidFill>
                  <a:srgbClr val="202020"/>
                </a:solidFill>
                <a:latin typeface="Arial"/>
              </a:rPr>
              <a:t>2. Pulsar: mostrar cambio de modo, LED, buzzer y tramas.</a:t>
            </a:r>
            <a:endParaRPr b="0" lang="en-US" sz="2400" spc="-1" strike="noStrike">
              <a:solidFill>
                <a:srgbClr val="202020"/>
              </a:solidFill>
              <a:latin typeface="Arial"/>
            </a:endParaRPr>
          </a:p>
          <a:p>
            <a:r>
              <a:rPr b="0" lang="en-US" sz="2400" spc="-1" strike="noStrike">
                <a:solidFill>
                  <a:srgbClr val="202020"/>
                </a:solidFill>
                <a:latin typeface="Arial"/>
              </a:rPr>
              <a:t>• </a:t>
            </a:r>
            <a:r>
              <a:rPr b="0" lang="en-US" sz="2400" spc="-1" strike="noStrike">
                <a:solidFill>
                  <a:srgbClr val="202020"/>
                </a:solidFill>
                <a:latin typeface="Arial"/>
              </a:rPr>
              <a:t>3. Mostrar ACK:ok y explicar la política de reintento.</a:t>
            </a:r>
            <a:endParaRPr b="0" lang="en-US" sz="2400" spc="-1" strike="noStrike">
              <a:solidFill>
                <a:srgbClr val="202020"/>
              </a:solidFill>
              <a:latin typeface="Arial"/>
            </a:endParaRPr>
          </a:p>
          <a:p>
            <a:r>
              <a:rPr b="0" lang="en-US" sz="2400" spc="-1" strike="noStrike">
                <a:solidFill>
                  <a:srgbClr val="202020"/>
                </a:solidFill>
                <a:latin typeface="Arial"/>
              </a:rPr>
              <a:t>• </a:t>
            </a:r>
            <a:r>
              <a:rPr b="0" lang="en-US" sz="2400" spc="-1" strike="noStrike">
                <a:solidFill>
                  <a:srgbClr val="202020"/>
                </a:solidFill>
                <a:latin typeface="Arial"/>
              </a:rPr>
              <a:t>4. Enviar una trama inválida y observar ERR:bounds.</a:t>
            </a:r>
            <a:endParaRPr b="0" lang="en-US" sz="2400" spc="-1" strike="noStrike">
              <a:solidFill>
                <a:srgbClr val="202020"/>
              </a:solidFill>
              <a:latin typeface="Arial"/>
            </a:endParaRPr>
          </a:p>
          <a:p>
            <a:r>
              <a:rPr b="0" lang="en-US" sz="2400" spc="-1" strike="noStrike">
                <a:solidFill>
                  <a:srgbClr val="202020"/>
                </a:solidFill>
                <a:latin typeface="Arial"/>
              </a:rPr>
              <a:t>• </a:t>
            </a:r>
            <a:r>
              <a:rPr b="0" lang="en-US" sz="2400" spc="-1" strike="noStrike">
                <a:solidFill>
                  <a:srgbClr val="202020"/>
                </a:solidFill>
                <a:latin typeface="Arial"/>
              </a:rPr>
              <a:t>5. Cerrar con tests/CI y alcance pendiente de ROS 2.</a:t>
            </a:r>
            <a:endParaRPr b="0" lang="en-US" sz="2400" spc="-1" strike="noStrike">
              <a:solidFill>
                <a:srgbClr val="202020"/>
              </a:solidFill>
              <a:latin typeface="Arial"/>
            </a:endParaRPr>
          </a:p>
        </p:txBody>
      </p:sp>
      <p:sp>
        <p:nvSpPr>
          <p:cNvPr id="90" name=""/>
          <p:cNvSpPr txBox="1"/>
          <p:nvPr/>
        </p:nvSpPr>
        <p:spPr>
          <a:xfrm>
            <a:off x="1260000" y="4464000"/>
            <a:ext cx="7560000" cy="36432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54000" bIns="54000" anchor="t">
            <a:noAutofit/>
          </a:bodyPr>
          <a:p>
            <a:pPr algn="r"/>
            <a:r>
              <a:rPr b="0" lang="en-US" sz="1800" spc="-1" strike="noStrike">
                <a:solidFill>
                  <a:srgbClr val="17365d"/>
                </a:solidFill>
                <a:latin typeface="Arial"/>
              </a:rPr>
              <a:t>Repositorio: github.com/jiborjas/TPI-V3</a:t>
            </a:r>
            <a:endParaRPr b="0" lang="en-US" sz="1800" spc="-1" strike="noStrike">
              <a:solidFill>
                <a:srgbClr val="17365d"/>
              </a:solidFill>
              <a:latin typeface="Arial"/>
            </a:endParaRPr>
          </a:p>
        </p:txBody>
      </p:sp>
      <p:sp>
        <p:nvSpPr>
          <p:cNvPr id="91" name=""/>
          <p:cNvSpPr txBox="1"/>
          <p:nvPr/>
        </p:nvSpPr>
        <p:spPr>
          <a:xfrm>
            <a:off x="234000" y="5436000"/>
            <a:ext cx="6480000" cy="25020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54000" bIns="54000" anchor="t">
            <a:noAutofit/>
          </a:bodyPr>
          <a:p>
            <a:r>
              <a:rPr b="0" lang="en-US" sz="1000" spc="-1" strike="noStrike">
                <a:solidFill>
                  <a:srgbClr val="666666"/>
                </a:solidFill>
                <a:latin typeface="Arial"/>
              </a:rPr>
              <a:t>TPI-V3 · Sistemas Embebidos · UADE</a:t>
            </a:r>
            <a:endParaRPr b="0" lang="en-US" sz="1000" spc="-1" strike="noStrike">
              <a:solidFill>
                <a:srgbClr val="666666"/>
              </a:solidFill>
              <a:latin typeface="Arial"/>
            </a:endParaRPr>
          </a:p>
        </p:txBody>
      </p:sp>
      <p:sp>
        <p:nvSpPr>
          <p:cNvPr id="92" name=""/>
          <p:cNvSpPr txBox="1"/>
          <p:nvPr/>
        </p:nvSpPr>
        <p:spPr>
          <a:xfrm>
            <a:off x="9576000" y="5436000"/>
            <a:ext cx="252000" cy="39204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54000" bIns="54000" anchor="t">
            <a:noAutofit/>
          </a:bodyPr>
          <a:p>
            <a:pPr algn="just"/>
            <a:r>
              <a:rPr b="0" lang="en-US" sz="1000" spc="-1" strike="noStrike">
                <a:solidFill>
                  <a:srgbClr val="666666"/>
                </a:solidFill>
                <a:latin typeface="Arial"/>
              </a:rPr>
              <a:t>13</a:t>
            </a:r>
            <a:endParaRPr b="0" lang="en-US" sz="1000" spc="-1" strike="noStrike">
              <a:solidFill>
                <a:srgbClr val="666666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"/>
          <p:cNvSpPr/>
          <p:nvPr/>
        </p:nvSpPr>
        <p:spPr>
          <a:xfrm>
            <a:off x="0" y="0"/>
            <a:ext cx="10080000" cy="540000"/>
          </a:xfrm>
          <a:prstGeom prst="rect">
            <a:avLst/>
          </a:prstGeom>
          <a:solidFill>
            <a:srgbClr val="17365d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" name=""/>
          <p:cNvSpPr txBox="1"/>
          <p:nvPr/>
        </p:nvSpPr>
        <p:spPr>
          <a:xfrm>
            <a:off x="288000" y="90000"/>
            <a:ext cx="8640000" cy="43632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54000" bIns="54000" anchor="t">
            <a:noAutofit/>
          </a:bodyPr>
          <a:p>
            <a:r>
              <a:rPr b="1" lang="en-US" sz="2300" spc="-1" strike="noStrike">
                <a:solidFill>
                  <a:srgbClr val="ffffff"/>
                </a:solidFill>
                <a:latin typeface="Arial"/>
              </a:rPr>
              <a:t>Preguntas obligatorias — Etapa 1</a:t>
            </a:r>
            <a:endParaRPr b="1" lang="en-US" sz="2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" name=""/>
          <p:cNvSpPr txBox="1"/>
          <p:nvPr/>
        </p:nvSpPr>
        <p:spPr>
          <a:xfrm>
            <a:off x="396000" y="936000"/>
            <a:ext cx="9000000" cy="253800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54000" bIns="54000" anchor="t">
            <a:noAutofit/>
          </a:bodyPr>
          <a:p>
            <a:r>
              <a:rPr b="0" lang="en-US" sz="2100" spc="-1" strike="noStrike">
                <a:solidFill>
                  <a:srgbClr val="202020"/>
                </a:solidFill>
                <a:latin typeface="Arial"/>
              </a:rPr>
              <a:t>• </a:t>
            </a:r>
            <a:r>
              <a:rPr b="0" lang="en-US" sz="2100" spc="-1" strike="noStrike">
                <a:solidFill>
                  <a:srgbClr val="202020"/>
                </a:solidFill>
                <a:latin typeface="Arial"/>
              </a:rPr>
              <a:t>¿Por qué byte a byte? La UART es un flujo sin alineación; la FSM no bloquea.</a:t>
            </a:r>
            <a:endParaRPr b="0" lang="en-US" sz="2100" spc="-1" strike="noStrike">
              <a:solidFill>
                <a:srgbClr val="202020"/>
              </a:solidFill>
              <a:latin typeface="Arial"/>
            </a:endParaRPr>
          </a:p>
          <a:p>
            <a:r>
              <a:rPr b="0" lang="en-US" sz="2100" spc="-1" strike="noStrike">
                <a:solidFill>
                  <a:srgbClr val="202020"/>
                </a:solidFill>
                <a:latin typeface="Arial"/>
              </a:rPr>
              <a:t>• </a:t>
            </a:r>
            <a:r>
              <a:rPr b="0" lang="en-US" sz="2100" spc="-1" strike="noStrike">
                <a:solidFill>
                  <a:srgbClr val="202020"/>
                </a:solidFill>
                <a:latin typeface="Arial"/>
              </a:rPr>
              <a:t>¿Tramas pegadas? LL delimita el cuerpo y permite volver a WAIT_START.</a:t>
            </a:r>
            <a:endParaRPr b="0" lang="en-US" sz="2100" spc="-1" strike="noStrike">
              <a:solidFill>
                <a:srgbClr val="202020"/>
              </a:solidFill>
              <a:latin typeface="Arial"/>
            </a:endParaRPr>
          </a:p>
          <a:p>
            <a:r>
              <a:rPr b="0" lang="en-US" sz="2100" spc="-1" strike="noStrike">
                <a:solidFill>
                  <a:srgbClr val="202020"/>
                </a:solidFill>
                <a:latin typeface="Arial"/>
              </a:rPr>
              <a:t>• </a:t>
            </a:r>
            <a:r>
              <a:rPr b="0" lang="en-US" sz="2100" spc="-1" strike="noStrike">
                <a:solidFill>
                  <a:srgbClr val="202020"/>
                </a:solidFill>
                <a:latin typeface="Arial"/>
              </a:rPr>
              <a:t>¿Checksum? XOR sobre LL:TTT:PAYLOAD; el encoder y parser calculan lo mismo.</a:t>
            </a:r>
            <a:endParaRPr b="0" lang="en-US" sz="2100" spc="-1" strike="noStrike">
              <a:solidFill>
                <a:srgbClr val="202020"/>
              </a:solidFill>
              <a:latin typeface="Arial"/>
            </a:endParaRPr>
          </a:p>
          <a:p>
            <a:r>
              <a:rPr b="0" lang="en-US" sz="2100" spc="-1" strike="noStrike">
                <a:solidFill>
                  <a:srgbClr val="202020"/>
                </a:solidFill>
                <a:latin typeface="Arial"/>
              </a:rPr>
              <a:t>• </a:t>
            </a:r>
            <a:r>
              <a:rPr b="0" lang="en-US" sz="2100" spc="-1" strike="noStrike">
                <a:solidFill>
                  <a:srgbClr val="202020"/>
                </a:solidFill>
                <a:latin typeface="Arial"/>
              </a:rPr>
              <a:t>¿LL inconsistente? Se informa ERR:bounds y se resincroniza ante un nuevo @.</a:t>
            </a:r>
            <a:endParaRPr b="0" lang="en-US" sz="2100" spc="-1" strike="noStrike">
              <a:solidFill>
                <a:srgbClr val="202020"/>
              </a:solidFill>
              <a:latin typeface="Arial"/>
            </a:endParaRPr>
          </a:p>
        </p:txBody>
      </p:sp>
      <p:sp>
        <p:nvSpPr>
          <p:cNvPr id="96" name=""/>
          <p:cNvSpPr txBox="1"/>
          <p:nvPr/>
        </p:nvSpPr>
        <p:spPr>
          <a:xfrm>
            <a:off x="648000" y="4500000"/>
            <a:ext cx="8640000" cy="33408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54000" bIns="54000" anchor="t">
            <a:noAutofit/>
          </a:bodyPr>
          <a:p>
            <a:pPr algn="r"/>
            <a:r>
              <a:rPr b="0" lang="en-US" sz="1600" spc="-1" strike="noStrike">
                <a:solidFill>
                  <a:srgbClr val="17365d"/>
                </a:solidFill>
                <a:latin typeface="Arial"/>
              </a:rPr>
              <a:t>Buenas prácticas: memoria acotada · validación de frontera · recuperación ante error</a:t>
            </a:r>
            <a:endParaRPr b="0" lang="en-US" sz="1600" spc="-1" strike="noStrike">
              <a:solidFill>
                <a:srgbClr val="17365d"/>
              </a:solidFill>
              <a:latin typeface="Arial"/>
            </a:endParaRPr>
          </a:p>
        </p:txBody>
      </p:sp>
      <p:sp>
        <p:nvSpPr>
          <p:cNvPr id="97" name=""/>
          <p:cNvSpPr txBox="1"/>
          <p:nvPr/>
        </p:nvSpPr>
        <p:spPr>
          <a:xfrm>
            <a:off x="234000" y="5436000"/>
            <a:ext cx="6480000" cy="25020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54000" bIns="54000" anchor="t">
            <a:noAutofit/>
          </a:bodyPr>
          <a:p>
            <a:r>
              <a:rPr b="0" lang="en-US" sz="1000" spc="-1" strike="noStrike">
                <a:solidFill>
                  <a:srgbClr val="666666"/>
                </a:solidFill>
                <a:latin typeface="Arial"/>
              </a:rPr>
              <a:t>TPI-V3 · Sistemas Embebidos · UADE</a:t>
            </a:r>
            <a:endParaRPr b="0" lang="en-US" sz="1000" spc="-1" strike="noStrike">
              <a:solidFill>
                <a:srgbClr val="666666"/>
              </a:solidFill>
              <a:latin typeface="Arial"/>
            </a:endParaRPr>
          </a:p>
        </p:txBody>
      </p:sp>
      <p:sp>
        <p:nvSpPr>
          <p:cNvPr id="98" name=""/>
          <p:cNvSpPr txBox="1"/>
          <p:nvPr/>
        </p:nvSpPr>
        <p:spPr>
          <a:xfrm>
            <a:off x="9576000" y="5436000"/>
            <a:ext cx="252000" cy="39204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54000" bIns="54000" anchor="t">
            <a:noAutofit/>
          </a:bodyPr>
          <a:p>
            <a:pPr algn="just"/>
            <a:r>
              <a:rPr b="0" lang="en-US" sz="1000" spc="-1" strike="noStrike">
                <a:solidFill>
                  <a:srgbClr val="666666"/>
                </a:solidFill>
                <a:latin typeface="Arial"/>
              </a:rPr>
              <a:t>14</a:t>
            </a:r>
            <a:endParaRPr b="0" lang="en-US" sz="1000" spc="-1" strike="noStrike">
              <a:solidFill>
                <a:srgbClr val="666666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"/>
          <p:cNvSpPr/>
          <p:nvPr/>
        </p:nvSpPr>
        <p:spPr>
          <a:xfrm>
            <a:off x="0" y="0"/>
            <a:ext cx="10080000" cy="540000"/>
          </a:xfrm>
          <a:prstGeom prst="rect">
            <a:avLst/>
          </a:prstGeom>
          <a:solidFill>
            <a:srgbClr val="17365d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" name=""/>
          <p:cNvSpPr txBox="1"/>
          <p:nvPr/>
        </p:nvSpPr>
        <p:spPr>
          <a:xfrm>
            <a:off x="288000" y="90000"/>
            <a:ext cx="8640000" cy="43632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54000" bIns="54000" anchor="t">
            <a:noAutofit/>
          </a:bodyPr>
          <a:p>
            <a:r>
              <a:rPr b="1" lang="en-US" sz="2300" spc="-1" strike="noStrike">
                <a:solidFill>
                  <a:srgbClr val="ffffff"/>
                </a:solidFill>
                <a:latin typeface="Arial"/>
              </a:rPr>
              <a:t>Preguntas obligatorias — Etapa 2</a:t>
            </a:r>
            <a:endParaRPr b="1" lang="en-US" sz="2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" name=""/>
          <p:cNvSpPr txBox="1"/>
          <p:nvPr/>
        </p:nvSpPr>
        <p:spPr>
          <a:xfrm>
            <a:off x="396000" y="936000"/>
            <a:ext cx="9000000" cy="253800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54000" bIns="54000" anchor="t">
            <a:noAutofit/>
          </a:bodyPr>
          <a:p>
            <a:r>
              <a:rPr b="0" lang="en-US" sz="2100" spc="-1" strike="noStrike">
                <a:solidFill>
                  <a:srgbClr val="202020"/>
                </a:solidFill>
                <a:latin typeface="Arial"/>
              </a:rPr>
              <a:t>• </a:t>
            </a:r>
            <a:r>
              <a:rPr b="0" lang="en-US" sz="2100" spc="-1" strike="noStrike">
                <a:solidFill>
                  <a:srgbClr val="202020"/>
                </a:solidFill>
                <a:latin typeface="Arial"/>
              </a:rPr>
              <a:t>PWM: PSC=71 y ARR=999 → 1 kHz con reloj de timer a 72 MHz.</a:t>
            </a:r>
            <a:endParaRPr b="0" lang="en-US" sz="2100" spc="-1" strike="noStrike">
              <a:solidFill>
                <a:srgbClr val="202020"/>
              </a:solidFill>
              <a:latin typeface="Arial"/>
            </a:endParaRPr>
          </a:p>
          <a:p>
            <a:r>
              <a:rPr b="0" lang="en-US" sz="2100" spc="-1" strike="noStrike">
                <a:solidFill>
                  <a:srgbClr val="202020"/>
                </a:solidFill>
                <a:latin typeface="Arial"/>
              </a:rPr>
              <a:t>• </a:t>
            </a:r>
            <a:r>
              <a:rPr b="0" lang="en-US" sz="2100" spc="-1" strike="noStrike">
                <a:solidFill>
                  <a:srgbClr val="202020"/>
                </a:solidFill>
                <a:latin typeface="Arial"/>
              </a:rPr>
              <a:t>ADC: duty=(adc×100)/4095; en Variante 3 se usa param=(adc×255)/4095.</a:t>
            </a:r>
            <a:endParaRPr b="0" lang="en-US" sz="2100" spc="-1" strike="noStrike">
              <a:solidFill>
                <a:srgbClr val="202020"/>
              </a:solidFill>
              <a:latin typeface="Arial"/>
            </a:endParaRPr>
          </a:p>
          <a:p>
            <a:r>
              <a:rPr b="0" lang="en-US" sz="2100" spc="-1" strike="noStrike">
                <a:solidFill>
                  <a:srgbClr val="202020"/>
                </a:solidFill>
                <a:latin typeface="Arial"/>
              </a:rPr>
              <a:t>• </a:t>
            </a:r>
            <a:r>
              <a:rPr b="0" lang="en-US" sz="2100" spc="-1" strike="noStrike">
                <a:solidFill>
                  <a:srgbClr val="202020"/>
                </a:solidFill>
                <a:latin typeface="Arial"/>
              </a:rPr>
              <a:t>Timers: PSC y ARR son comunes a todos los canales; por eso LED y buzzer usan timers distintos.</a:t>
            </a:r>
            <a:endParaRPr b="0" lang="en-US" sz="2100" spc="-1" strike="noStrike">
              <a:solidFill>
                <a:srgbClr val="202020"/>
              </a:solidFill>
              <a:latin typeface="Arial"/>
            </a:endParaRPr>
          </a:p>
          <a:p>
            <a:r>
              <a:rPr b="0" lang="en-US" sz="2100" spc="-1" strike="noStrike">
                <a:solidFill>
                  <a:srgbClr val="202020"/>
                </a:solidFill>
                <a:latin typeface="Arial"/>
              </a:rPr>
              <a:t>• </a:t>
            </a:r>
            <a:r>
              <a:rPr b="0" lang="en-US" sz="2100" spc="-1" strike="noStrike">
                <a:solidFill>
                  <a:srgbClr val="202020"/>
                </a:solidFill>
                <a:latin typeface="Arial"/>
              </a:rPr>
              <a:t>PWM requiere salida alternativa push-pull (AF push-pull) en STM32F1.</a:t>
            </a:r>
            <a:endParaRPr b="0" lang="en-US" sz="2100" spc="-1" strike="noStrike">
              <a:solidFill>
                <a:srgbClr val="202020"/>
              </a:solidFill>
              <a:latin typeface="Arial"/>
            </a:endParaRPr>
          </a:p>
        </p:txBody>
      </p:sp>
      <p:sp>
        <p:nvSpPr>
          <p:cNvPr id="102" name=""/>
          <p:cNvSpPr txBox="1"/>
          <p:nvPr/>
        </p:nvSpPr>
        <p:spPr>
          <a:xfrm>
            <a:off x="648000" y="4500000"/>
            <a:ext cx="8640000" cy="33408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54000" bIns="54000" anchor="t">
            <a:noAutofit/>
          </a:bodyPr>
          <a:p>
            <a:pPr algn="r"/>
            <a:r>
              <a:rPr b="0" lang="en-US" sz="1600" spc="-1" strike="noStrike">
                <a:solidFill>
                  <a:srgbClr val="17365d"/>
                </a:solidFill>
                <a:latin typeface="Arial"/>
              </a:rPr>
              <a:t>Buenas prácticas: cálculos reproducibles · tipos enteros acotados · un timer por función</a:t>
            </a:r>
            <a:endParaRPr b="0" lang="en-US" sz="1600" spc="-1" strike="noStrike">
              <a:solidFill>
                <a:srgbClr val="17365d"/>
              </a:solidFill>
              <a:latin typeface="Arial"/>
            </a:endParaRPr>
          </a:p>
        </p:txBody>
      </p:sp>
      <p:sp>
        <p:nvSpPr>
          <p:cNvPr id="103" name=""/>
          <p:cNvSpPr txBox="1"/>
          <p:nvPr/>
        </p:nvSpPr>
        <p:spPr>
          <a:xfrm>
            <a:off x="234000" y="5436000"/>
            <a:ext cx="6480000" cy="25020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54000" bIns="54000" anchor="t">
            <a:noAutofit/>
          </a:bodyPr>
          <a:p>
            <a:r>
              <a:rPr b="0" lang="en-US" sz="1000" spc="-1" strike="noStrike">
                <a:solidFill>
                  <a:srgbClr val="666666"/>
                </a:solidFill>
                <a:latin typeface="Arial"/>
              </a:rPr>
              <a:t>TPI-V3 · Sistemas Embebidos · UADE</a:t>
            </a:r>
            <a:endParaRPr b="0" lang="en-US" sz="1000" spc="-1" strike="noStrike">
              <a:solidFill>
                <a:srgbClr val="666666"/>
              </a:solidFill>
              <a:latin typeface="Arial"/>
            </a:endParaRPr>
          </a:p>
        </p:txBody>
      </p:sp>
      <p:sp>
        <p:nvSpPr>
          <p:cNvPr id="104" name=""/>
          <p:cNvSpPr txBox="1"/>
          <p:nvPr/>
        </p:nvSpPr>
        <p:spPr>
          <a:xfrm>
            <a:off x="9576000" y="5436000"/>
            <a:ext cx="252000" cy="39204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54000" bIns="54000" anchor="t">
            <a:noAutofit/>
          </a:bodyPr>
          <a:p>
            <a:pPr algn="just"/>
            <a:r>
              <a:rPr b="0" lang="en-US" sz="1000" spc="-1" strike="noStrike">
                <a:solidFill>
                  <a:srgbClr val="666666"/>
                </a:solidFill>
                <a:latin typeface="Arial"/>
              </a:rPr>
              <a:t>15</a:t>
            </a:r>
            <a:endParaRPr b="0" lang="en-US" sz="1000" spc="-1" strike="noStrike">
              <a:solidFill>
                <a:srgbClr val="666666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"/>
          <p:cNvSpPr/>
          <p:nvPr/>
        </p:nvSpPr>
        <p:spPr>
          <a:xfrm>
            <a:off x="0" y="0"/>
            <a:ext cx="10080000" cy="540000"/>
          </a:xfrm>
          <a:prstGeom prst="rect">
            <a:avLst/>
          </a:prstGeom>
          <a:solidFill>
            <a:srgbClr val="17365d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" name=""/>
          <p:cNvSpPr txBox="1"/>
          <p:nvPr/>
        </p:nvSpPr>
        <p:spPr>
          <a:xfrm>
            <a:off x="288000" y="90000"/>
            <a:ext cx="8640000" cy="43632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54000" bIns="54000" anchor="t">
            <a:noAutofit/>
          </a:bodyPr>
          <a:p>
            <a:r>
              <a:rPr b="1" lang="en-US" sz="2300" spc="-1" strike="noStrike">
                <a:solidFill>
                  <a:srgbClr val="ffffff"/>
                </a:solidFill>
                <a:latin typeface="Arial"/>
              </a:rPr>
              <a:t>Preguntas obligatorias — Etapa 3</a:t>
            </a:r>
            <a:endParaRPr b="1" lang="en-US" sz="2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" name=""/>
          <p:cNvSpPr txBox="1"/>
          <p:nvPr/>
        </p:nvSpPr>
        <p:spPr>
          <a:xfrm>
            <a:off x="396000" y="936000"/>
            <a:ext cx="9000000" cy="253800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54000" bIns="54000" anchor="t">
            <a:noAutofit/>
          </a:bodyPr>
          <a:p>
            <a:r>
              <a:rPr b="0" lang="en-US" sz="2100" spc="-1" strike="noStrike">
                <a:solidFill>
                  <a:srgbClr val="202020"/>
                </a:solidFill>
                <a:latin typeface="Arial"/>
              </a:rPr>
              <a:t>• </a:t>
            </a:r>
            <a:r>
              <a:rPr b="0" lang="en-US" sz="2100" spc="-1" strike="noStrike">
                <a:solidFill>
                  <a:srgbClr val="202020"/>
                </a:solidFill>
                <a:latin typeface="Arial"/>
              </a:rPr>
              <a:t>No hay superloop: ISR mínimas + tareas FreeRTOS con responsabilidades separadas.</a:t>
            </a:r>
            <a:endParaRPr b="0" lang="en-US" sz="2100" spc="-1" strike="noStrike">
              <a:solidFill>
                <a:srgbClr val="202020"/>
              </a:solidFill>
              <a:latin typeface="Arial"/>
            </a:endParaRPr>
          </a:p>
          <a:p>
            <a:r>
              <a:rPr b="0" lang="en-US" sz="2100" spc="-1" strike="noStrike">
                <a:solidFill>
                  <a:srgbClr val="202020"/>
                </a:solidFill>
                <a:latin typeface="Arial"/>
              </a:rPr>
              <a:t>• </a:t>
            </a:r>
            <a:r>
              <a:rPr b="0" lang="en-US" sz="2100" spc="-1" strike="noStrike">
                <a:solidFill>
                  <a:srgbClr val="202020"/>
                </a:solidFill>
                <a:latin typeface="Arial"/>
              </a:rPr>
              <a:t>Sin ACK: reenvío cada 500 ms, hasta 5 veces; a los 3 s se emite ERR:timeout.</a:t>
            </a:r>
            <a:endParaRPr b="0" lang="en-US" sz="2100" spc="-1" strike="noStrike">
              <a:solidFill>
                <a:srgbClr val="202020"/>
              </a:solidFill>
              <a:latin typeface="Arial"/>
            </a:endParaRPr>
          </a:p>
          <a:p>
            <a:r>
              <a:rPr b="0" lang="en-US" sz="2100" spc="-1" strike="noStrike">
                <a:solidFill>
                  <a:srgbClr val="202020"/>
                </a:solidFill>
                <a:latin typeface="Arial"/>
              </a:rPr>
              <a:t>• </a:t>
            </a:r>
            <a:r>
              <a:rPr b="0" lang="en-US" sz="2100" spc="-1" strike="noStrike">
                <a:solidFill>
                  <a:srgbClr val="202020"/>
                </a:solidFill>
                <a:latin typeface="Arial"/>
              </a:rPr>
              <a:t>Payloads numéricos: snprintf con ancho fijo (param=%03u, adc=%04u).</a:t>
            </a:r>
            <a:endParaRPr b="0" lang="en-US" sz="2100" spc="-1" strike="noStrike">
              <a:solidFill>
                <a:srgbClr val="202020"/>
              </a:solidFill>
              <a:latin typeface="Arial"/>
            </a:endParaRPr>
          </a:p>
          <a:p>
            <a:r>
              <a:rPr b="0" lang="en-US" sz="2100" spc="-1" strike="noStrike">
                <a:solidFill>
                  <a:srgbClr val="202020"/>
                </a:solidFill>
                <a:latin typeface="Arial"/>
              </a:rPr>
              <a:t>• </a:t>
            </a:r>
            <a:r>
              <a:rPr b="0" lang="en-US" sz="2100" spc="-1" strike="noStrike">
                <a:solidFill>
                  <a:srgbClr val="202020"/>
                </a:solidFill>
                <a:latin typeface="Arial"/>
              </a:rPr>
              <a:t>TIM2 LED, TIM4 buzzer, TIM3 base de 1 ms; SysTick para tiempos blandos.</a:t>
            </a:r>
            <a:endParaRPr b="0" lang="en-US" sz="2100" spc="-1" strike="noStrike">
              <a:solidFill>
                <a:srgbClr val="202020"/>
              </a:solidFill>
              <a:latin typeface="Arial"/>
            </a:endParaRPr>
          </a:p>
        </p:txBody>
      </p:sp>
      <p:sp>
        <p:nvSpPr>
          <p:cNvPr id="108" name=""/>
          <p:cNvSpPr txBox="1"/>
          <p:nvPr/>
        </p:nvSpPr>
        <p:spPr>
          <a:xfrm>
            <a:off x="648000" y="4500000"/>
            <a:ext cx="8640000" cy="55980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54000" bIns="54000" anchor="t">
            <a:noAutofit/>
          </a:bodyPr>
          <a:p>
            <a:pPr algn="r"/>
            <a:r>
              <a:rPr b="0" lang="en-US" sz="1600" spc="-1" strike="noStrike">
                <a:solidFill>
                  <a:srgbClr val="17365d"/>
                </a:solidFill>
                <a:latin typeface="Arial"/>
              </a:rPr>
              <a:t>Buenas prácticas: no bloquear ISR · colas entre contextos · degradación segura · estado local preservado</a:t>
            </a:r>
            <a:endParaRPr b="0" lang="en-US" sz="1600" spc="-1" strike="noStrike">
              <a:solidFill>
                <a:srgbClr val="17365d"/>
              </a:solidFill>
              <a:latin typeface="Arial"/>
            </a:endParaRPr>
          </a:p>
        </p:txBody>
      </p:sp>
      <p:sp>
        <p:nvSpPr>
          <p:cNvPr id="109" name=""/>
          <p:cNvSpPr txBox="1"/>
          <p:nvPr/>
        </p:nvSpPr>
        <p:spPr>
          <a:xfrm>
            <a:off x="234000" y="5436000"/>
            <a:ext cx="6480000" cy="25020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54000" bIns="54000" anchor="t">
            <a:noAutofit/>
          </a:bodyPr>
          <a:p>
            <a:r>
              <a:rPr b="0" lang="en-US" sz="1000" spc="-1" strike="noStrike">
                <a:solidFill>
                  <a:srgbClr val="666666"/>
                </a:solidFill>
                <a:latin typeface="Arial"/>
              </a:rPr>
              <a:t>TPI-V3 · Sistemas Embebidos · UADE</a:t>
            </a:r>
            <a:endParaRPr b="0" lang="en-US" sz="1000" spc="-1" strike="noStrike">
              <a:solidFill>
                <a:srgbClr val="666666"/>
              </a:solidFill>
              <a:latin typeface="Arial"/>
            </a:endParaRPr>
          </a:p>
        </p:txBody>
      </p:sp>
      <p:sp>
        <p:nvSpPr>
          <p:cNvPr id="110" name=""/>
          <p:cNvSpPr txBox="1"/>
          <p:nvPr/>
        </p:nvSpPr>
        <p:spPr>
          <a:xfrm>
            <a:off x="9576000" y="5436000"/>
            <a:ext cx="252000" cy="39204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54000" bIns="54000" anchor="t">
            <a:noAutofit/>
          </a:bodyPr>
          <a:p>
            <a:pPr algn="just"/>
            <a:r>
              <a:rPr b="0" lang="en-US" sz="1000" spc="-1" strike="noStrike">
                <a:solidFill>
                  <a:srgbClr val="666666"/>
                </a:solidFill>
                <a:latin typeface="Arial"/>
              </a:rPr>
              <a:t>16</a:t>
            </a:r>
            <a:endParaRPr b="0" lang="en-US" sz="1000" spc="-1" strike="noStrike">
              <a:solidFill>
                <a:srgbClr val="666666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"/>
          <p:cNvSpPr/>
          <p:nvPr/>
        </p:nvSpPr>
        <p:spPr>
          <a:xfrm>
            <a:off x="0" y="0"/>
            <a:ext cx="10080000" cy="540000"/>
          </a:xfrm>
          <a:prstGeom prst="rect">
            <a:avLst/>
          </a:prstGeom>
          <a:solidFill>
            <a:srgbClr val="17365d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" name=""/>
          <p:cNvSpPr txBox="1"/>
          <p:nvPr/>
        </p:nvSpPr>
        <p:spPr>
          <a:xfrm>
            <a:off x="288000" y="90000"/>
            <a:ext cx="8640000" cy="43632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54000" bIns="54000" anchor="t">
            <a:noAutofit/>
          </a:bodyPr>
          <a:p>
            <a:r>
              <a:rPr b="1" lang="en-US" sz="2300" spc="-1" strike="noStrike">
                <a:solidFill>
                  <a:srgbClr val="ffffff"/>
                </a:solidFill>
                <a:latin typeface="Arial"/>
              </a:rPr>
              <a:t>Preguntas obligatorias — Etapa 4</a:t>
            </a:r>
            <a:endParaRPr b="1" lang="en-US" sz="2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" name=""/>
          <p:cNvSpPr txBox="1"/>
          <p:nvPr/>
        </p:nvSpPr>
        <p:spPr>
          <a:xfrm>
            <a:off x="396000" y="936000"/>
            <a:ext cx="9000000" cy="253800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54000" bIns="54000" anchor="t">
            <a:noAutofit/>
          </a:bodyPr>
          <a:p>
            <a:r>
              <a:rPr b="0" lang="en-US" sz="2100" spc="-1" strike="noStrike">
                <a:solidFill>
                  <a:srgbClr val="202020"/>
                </a:solidFill>
                <a:latin typeface="Arial"/>
              </a:rPr>
              <a:t>• </a:t>
            </a:r>
            <a:r>
              <a:rPr b="0" lang="en-US" sz="2100" spc="-1" strike="noStrike">
                <a:solidFill>
                  <a:srgbClr val="202020"/>
                </a:solidFill>
                <a:latin typeface="Arial"/>
              </a:rPr>
              <a:t>Tópicos: se identifican en laboratorio con ros2 topic list/echo; el firmware respeta el contrato de tramas.</a:t>
            </a:r>
            <a:endParaRPr b="0" lang="en-US" sz="2100" spc="-1" strike="noStrike">
              <a:solidFill>
                <a:srgbClr val="202020"/>
              </a:solidFill>
              <a:latin typeface="Arial"/>
            </a:endParaRPr>
          </a:p>
          <a:p>
            <a:r>
              <a:rPr b="0" lang="en-US" sz="2100" spc="-1" strike="noStrike">
                <a:solidFill>
                  <a:srgbClr val="202020"/>
                </a:solidFill>
                <a:latin typeface="Arial"/>
              </a:rPr>
              <a:t>• </a:t>
            </a:r>
            <a:r>
              <a:rPr b="0" lang="en-US" sz="2100" spc="-1" strike="noStrike">
                <a:solidFill>
                  <a:srgbClr val="202020"/>
                </a:solidFill>
                <a:latin typeface="Arial"/>
              </a:rPr>
              <a:t>Latencia: presupuesto local ≈60 ms; la medición extremo a extremo se declara pendiente.</a:t>
            </a:r>
            <a:endParaRPr b="0" lang="en-US" sz="2100" spc="-1" strike="noStrike">
              <a:solidFill>
                <a:srgbClr val="202020"/>
              </a:solidFill>
              <a:latin typeface="Arial"/>
            </a:endParaRPr>
          </a:p>
          <a:p>
            <a:r>
              <a:rPr b="0" lang="en-US" sz="2100" spc="-1" strike="noStrike">
                <a:solidFill>
                  <a:srgbClr val="202020"/>
                </a:solidFill>
                <a:latin typeface="Arial"/>
              </a:rPr>
              <a:t>• </a:t>
            </a:r>
            <a:r>
              <a:rPr b="0" lang="en-US" sz="2100" spc="-1" strike="noStrike">
                <a:solidFill>
                  <a:srgbClr val="202020"/>
                </a:solidFill>
                <a:latin typeface="Arial"/>
              </a:rPr>
              <a:t>Falla de bridge: recuperación automática con ACK tardío o ERR:timeout sin reset manual.</a:t>
            </a:r>
            <a:endParaRPr b="0" lang="en-US" sz="2100" spc="-1" strike="noStrike">
              <a:solidFill>
                <a:srgbClr val="202020"/>
              </a:solidFill>
              <a:latin typeface="Arial"/>
            </a:endParaRPr>
          </a:p>
          <a:p>
            <a:r>
              <a:rPr b="0" lang="en-US" sz="2100" spc="-1" strike="noStrike">
                <a:solidFill>
                  <a:srgbClr val="202020"/>
                </a:solidFill>
                <a:latin typeface="Arial"/>
              </a:rPr>
              <a:t>• </a:t>
            </a:r>
            <a:r>
              <a:rPr b="0" lang="en-US" sz="2100" spc="-1" strike="noStrike">
                <a:solidFill>
                  <a:srgbClr val="202020"/>
                </a:solidFill>
                <a:latin typeface="Arial"/>
              </a:rPr>
              <a:t>Extensión: nuevo EVT:cmd_* sin cambiar framing, checksum, parser ni política de ACK.</a:t>
            </a:r>
            <a:endParaRPr b="0" lang="en-US" sz="2100" spc="-1" strike="noStrike">
              <a:solidFill>
                <a:srgbClr val="202020"/>
              </a:solidFill>
              <a:latin typeface="Arial"/>
            </a:endParaRPr>
          </a:p>
        </p:txBody>
      </p:sp>
      <p:sp>
        <p:nvSpPr>
          <p:cNvPr id="114" name=""/>
          <p:cNvSpPr txBox="1"/>
          <p:nvPr/>
        </p:nvSpPr>
        <p:spPr>
          <a:xfrm>
            <a:off x="648000" y="4500000"/>
            <a:ext cx="8640000" cy="55980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54000" bIns="54000" anchor="t">
            <a:noAutofit/>
          </a:bodyPr>
          <a:p>
            <a:pPr algn="r"/>
            <a:r>
              <a:rPr b="0" lang="en-US" sz="1600" spc="-1" strike="noStrike">
                <a:solidFill>
                  <a:srgbClr val="17365d"/>
                </a:solidFill>
                <a:latin typeface="Arial"/>
              </a:rPr>
              <a:t>Buenas prácticas: no inventar mediciones · separar transporte de semántica · plan de verificación reproducible</a:t>
            </a:r>
            <a:endParaRPr b="0" lang="en-US" sz="1600" spc="-1" strike="noStrike">
              <a:solidFill>
                <a:srgbClr val="17365d"/>
              </a:solidFill>
              <a:latin typeface="Arial"/>
            </a:endParaRPr>
          </a:p>
        </p:txBody>
      </p:sp>
      <p:sp>
        <p:nvSpPr>
          <p:cNvPr id="115" name=""/>
          <p:cNvSpPr txBox="1"/>
          <p:nvPr/>
        </p:nvSpPr>
        <p:spPr>
          <a:xfrm>
            <a:off x="234000" y="5436000"/>
            <a:ext cx="6480000" cy="25020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54000" bIns="54000" anchor="t">
            <a:noAutofit/>
          </a:bodyPr>
          <a:p>
            <a:r>
              <a:rPr b="0" lang="en-US" sz="1000" spc="-1" strike="noStrike">
                <a:solidFill>
                  <a:srgbClr val="666666"/>
                </a:solidFill>
                <a:latin typeface="Arial"/>
              </a:rPr>
              <a:t>TPI-V3 · Sistemas Embebidos · UADE</a:t>
            </a:r>
            <a:endParaRPr b="0" lang="en-US" sz="1000" spc="-1" strike="noStrike">
              <a:solidFill>
                <a:srgbClr val="666666"/>
              </a:solidFill>
              <a:latin typeface="Arial"/>
            </a:endParaRPr>
          </a:p>
        </p:txBody>
      </p:sp>
      <p:sp>
        <p:nvSpPr>
          <p:cNvPr id="116" name=""/>
          <p:cNvSpPr txBox="1"/>
          <p:nvPr/>
        </p:nvSpPr>
        <p:spPr>
          <a:xfrm>
            <a:off x="9576000" y="5436000"/>
            <a:ext cx="252000" cy="39204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54000" bIns="54000" anchor="t">
            <a:noAutofit/>
          </a:bodyPr>
          <a:p>
            <a:pPr algn="just"/>
            <a:r>
              <a:rPr b="0" lang="en-US" sz="1000" spc="-1" strike="noStrike">
                <a:solidFill>
                  <a:srgbClr val="666666"/>
                </a:solidFill>
                <a:latin typeface="Arial"/>
              </a:rPr>
              <a:t>17</a:t>
            </a:r>
            <a:endParaRPr b="0" lang="en-US" sz="1000" spc="-1" strike="noStrike">
              <a:solidFill>
                <a:srgbClr val="666666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"/>
          <p:cNvSpPr/>
          <p:nvPr/>
        </p:nvSpPr>
        <p:spPr>
          <a:xfrm>
            <a:off x="0" y="0"/>
            <a:ext cx="10080000" cy="540000"/>
          </a:xfrm>
          <a:prstGeom prst="rect">
            <a:avLst/>
          </a:prstGeom>
          <a:solidFill>
            <a:srgbClr val="17365d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" name=""/>
          <p:cNvSpPr txBox="1"/>
          <p:nvPr/>
        </p:nvSpPr>
        <p:spPr>
          <a:xfrm>
            <a:off x="288000" y="90000"/>
            <a:ext cx="8640000" cy="43632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54000" bIns="54000" anchor="t">
            <a:noAutofit/>
          </a:bodyPr>
          <a:p>
            <a:r>
              <a:rPr b="1" lang="en-US" sz="2300" spc="-1" strike="noStrike">
                <a:solidFill>
                  <a:srgbClr val="ffffff"/>
                </a:solidFill>
                <a:latin typeface="Arial"/>
              </a:rPr>
              <a:t>Checklist para la defensa oral</a:t>
            </a:r>
            <a:endParaRPr b="1" lang="en-US" sz="2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" name=""/>
          <p:cNvSpPr txBox="1"/>
          <p:nvPr/>
        </p:nvSpPr>
        <p:spPr>
          <a:xfrm>
            <a:off x="396000" y="972000"/>
            <a:ext cx="9000000" cy="273204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54000" bIns="54000" anchor="t">
            <a:noAutofit/>
          </a:bodyPr>
          <a:p>
            <a:r>
              <a:rPr b="0" lang="en-US" sz="2300" spc="-1" strike="noStrike">
                <a:solidFill>
                  <a:srgbClr val="202020"/>
                </a:solidFill>
                <a:latin typeface="Arial"/>
              </a:rPr>
              <a:t>• </a:t>
            </a:r>
            <a:r>
              <a:rPr b="0" lang="en-US" sz="2300" spc="-1" strike="noStrike">
                <a:solidFill>
                  <a:srgbClr val="202020"/>
                </a:solidFill>
                <a:latin typeface="Arial"/>
              </a:rPr>
              <a:t>Mostrar cada pregunta obligatoria junto con la evidencia correspondiente.</a:t>
            </a:r>
            <a:endParaRPr b="0" lang="en-US" sz="2300" spc="-1" strike="noStrike">
              <a:solidFill>
                <a:srgbClr val="202020"/>
              </a:solidFill>
              <a:latin typeface="Arial"/>
            </a:endParaRPr>
          </a:p>
          <a:p>
            <a:r>
              <a:rPr b="0" lang="en-US" sz="2300" spc="-1" strike="noStrike">
                <a:solidFill>
                  <a:srgbClr val="202020"/>
                </a:solidFill>
                <a:latin typeface="Arial"/>
              </a:rPr>
              <a:t>• </a:t>
            </a:r>
            <a:r>
              <a:rPr b="0" lang="en-US" sz="2300" spc="-1" strike="noStrike">
                <a:solidFill>
                  <a:srgbClr val="202020"/>
                </a:solidFill>
                <a:latin typeface="Arial"/>
              </a:rPr>
              <a:t>Primero: diagrama + implementación; después: test, consola o video.</a:t>
            </a:r>
            <a:endParaRPr b="0" lang="en-US" sz="2300" spc="-1" strike="noStrike">
              <a:solidFill>
                <a:srgbClr val="202020"/>
              </a:solidFill>
              <a:latin typeface="Arial"/>
            </a:endParaRPr>
          </a:p>
          <a:p>
            <a:r>
              <a:rPr b="0" lang="en-US" sz="2300" spc="-1" strike="noStrike">
                <a:solidFill>
                  <a:srgbClr val="202020"/>
                </a:solidFill>
                <a:latin typeface="Arial"/>
              </a:rPr>
              <a:t>• </a:t>
            </a:r>
            <a:r>
              <a:rPr b="0" lang="en-US" sz="2300" spc="-1" strike="noStrike">
                <a:solidFill>
                  <a:srgbClr val="202020"/>
                </a:solidFill>
                <a:latin typeface="Arial"/>
              </a:rPr>
              <a:t>Distinguir claramente “validado en placa” de “pendiente de laboratorio”.</a:t>
            </a:r>
            <a:endParaRPr b="0" lang="en-US" sz="2300" spc="-1" strike="noStrike">
              <a:solidFill>
                <a:srgbClr val="202020"/>
              </a:solidFill>
              <a:latin typeface="Arial"/>
            </a:endParaRPr>
          </a:p>
          <a:p>
            <a:r>
              <a:rPr b="0" lang="en-US" sz="2300" spc="-1" strike="noStrike">
                <a:solidFill>
                  <a:srgbClr val="202020"/>
                </a:solidFill>
                <a:latin typeface="Arial"/>
              </a:rPr>
              <a:t>• </a:t>
            </a:r>
            <a:r>
              <a:rPr b="0" lang="en-US" sz="2300" spc="-1" strike="noStrike">
                <a:solidFill>
                  <a:srgbClr val="202020"/>
                </a:solidFill>
                <a:latin typeface="Arial"/>
              </a:rPr>
              <a:t>Cerrar con el repositorio, CI y la demostración en vivo del prototipo.</a:t>
            </a:r>
            <a:endParaRPr b="0" lang="en-US" sz="2300" spc="-1" strike="noStrike">
              <a:solidFill>
                <a:srgbClr val="202020"/>
              </a:solidFill>
              <a:latin typeface="Arial"/>
            </a:endParaRPr>
          </a:p>
        </p:txBody>
      </p:sp>
      <p:sp>
        <p:nvSpPr>
          <p:cNvPr id="120" name=""/>
          <p:cNvSpPr txBox="1"/>
          <p:nvPr/>
        </p:nvSpPr>
        <p:spPr>
          <a:xfrm>
            <a:off x="900000" y="4320000"/>
            <a:ext cx="8280000" cy="64476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54000" bIns="54000" anchor="t">
            <a:noAutofit/>
          </a:bodyPr>
          <a:p>
            <a:pPr algn="r"/>
            <a:r>
              <a:rPr b="1" lang="en-US" sz="1900" spc="-1" strike="noStrike">
                <a:solidFill>
                  <a:srgbClr val="17365d"/>
                </a:solidFill>
                <a:latin typeface="Arial"/>
              </a:rPr>
              <a:t>Resultado: trazabilidad entre enunciado, código, pruebas y evidencia física.</a:t>
            </a:r>
            <a:endParaRPr b="1" lang="en-US" sz="1900" spc="-1" strike="noStrike">
              <a:solidFill>
                <a:srgbClr val="17365d"/>
              </a:solidFill>
              <a:latin typeface="Arial"/>
            </a:endParaRPr>
          </a:p>
        </p:txBody>
      </p:sp>
      <p:sp>
        <p:nvSpPr>
          <p:cNvPr id="121" name=""/>
          <p:cNvSpPr txBox="1"/>
          <p:nvPr/>
        </p:nvSpPr>
        <p:spPr>
          <a:xfrm>
            <a:off x="234000" y="5436000"/>
            <a:ext cx="6480000" cy="25020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54000" bIns="54000" anchor="t">
            <a:noAutofit/>
          </a:bodyPr>
          <a:p>
            <a:r>
              <a:rPr b="0" lang="en-US" sz="1000" spc="-1" strike="noStrike">
                <a:solidFill>
                  <a:srgbClr val="666666"/>
                </a:solidFill>
                <a:latin typeface="Arial"/>
              </a:rPr>
              <a:t>TPI-V3 · Sistemas Embebidos · UADE</a:t>
            </a:r>
            <a:endParaRPr b="0" lang="en-US" sz="1000" spc="-1" strike="noStrike">
              <a:solidFill>
                <a:srgbClr val="666666"/>
              </a:solidFill>
              <a:latin typeface="Arial"/>
            </a:endParaRPr>
          </a:p>
        </p:txBody>
      </p:sp>
      <p:sp>
        <p:nvSpPr>
          <p:cNvPr id="122" name=""/>
          <p:cNvSpPr txBox="1"/>
          <p:nvPr/>
        </p:nvSpPr>
        <p:spPr>
          <a:xfrm>
            <a:off x="9576000" y="5436000"/>
            <a:ext cx="252000" cy="39204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54000" bIns="54000" anchor="t">
            <a:noAutofit/>
          </a:bodyPr>
          <a:p>
            <a:pPr algn="just"/>
            <a:r>
              <a:rPr b="0" lang="en-US" sz="1000" spc="-1" strike="noStrike">
                <a:solidFill>
                  <a:srgbClr val="666666"/>
                </a:solidFill>
                <a:latin typeface="Arial"/>
              </a:rPr>
              <a:t>18</a:t>
            </a:r>
            <a:endParaRPr b="0" lang="en-US" sz="1000" spc="-1" strike="noStrike">
              <a:solidFill>
                <a:srgbClr val="666666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2026-07-15T12:35:41Z</dcterms:created>
  <dc:creator/>
  <dc:description/>
  <dc:language>en-US</dc:language>
  <cp:lastModifiedBy/>
  <dcterms:modified xsi:type="dcterms:W3CDTF">2026-07-15T12:35:45Z</dcterms:modified>
  <cp:revision>1</cp:revision>
  <dc:subject/>
  <dc:title/>
</cp:coreProperties>
</file>
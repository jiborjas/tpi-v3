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9.jpeg" ContentType="image/jpeg"/>
  <Override PartName="/ppt/media/image14.png" ContentType="image/png"/>
  <Override PartName="/ppt/media/image5.png" ContentType="image/png"/>
  <Override PartName="/ppt/media/image8.jpeg" ContentType="image/jpeg"/>
  <Override PartName="/ppt/media/image7.png" ContentType="image/png"/>
  <Override PartName="/ppt/media/image11.png" ContentType="image/png"/>
  <Override PartName="/ppt/media/image2.png" ContentType="image/png"/>
  <Override PartName="/ppt/media/image3.png" ContentType="image/png"/>
  <Override PartName="/ppt/media/image12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745104-7CB6-4DD7-A3F4-A1D5AB8E82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3299F-E0C9-4722-9842-54568D8788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C9DB835-55D1-41EE-A202-C8A696FEA66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file:///home/juani/proyectos/embebidos/TPI-V3/evidencia/TPI_V3_Acknowledge.mp4" TargetMode="External"/><Relationship Id="rId2" Type="http://schemas.microsoft.com/office/2007/relationships/media" Target="file:///home/juani/proyectos/embebidos/TPI-V3/evidencia/TPI_V3_Acknowledge.mp4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video" Target="file:///home/juani/proyectos/embebidos/TPI-V3/evidencia/TPI_V3_ADC_EXTI_FSM.mp4" TargetMode="External"/><Relationship Id="rId2" Type="http://schemas.microsoft.com/office/2007/relationships/media" Target="file:///home/juani/proyectos/embebidos/TPI-V3/evidencia/TPI_V3_ADC_EXTI_FSM.mp4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32000" y="612000"/>
            <a:ext cx="9000000" cy="533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TP Integrador — Variante 3</a:t>
            </a:r>
            <a:endParaRPr b="1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32000" y="972000"/>
            <a:ext cx="9000000" cy="448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2400" spc="-1" strike="noStrike">
                <a:solidFill>
                  <a:srgbClr val="d9e6f2"/>
                </a:solidFill>
                <a:latin typeface="Arial"/>
              </a:rPr>
              <a:t>Caja de comandos física para robot Unitree</a:t>
            </a:r>
            <a:endParaRPr b="0" lang="en-US" sz="2400" spc="-1" strike="noStrike">
              <a:solidFill>
                <a:srgbClr val="d9e6f2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3780000" y="1476000"/>
            <a:ext cx="2520000" cy="324000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 txBox="1"/>
          <p:nvPr/>
        </p:nvSpPr>
        <p:spPr>
          <a:xfrm>
            <a:off x="900000" y="4752000"/>
            <a:ext cx="8280000" cy="364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Blue Pill · FreeRTOS · UART · ADC · PWM · EXTI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00000" y="5076000"/>
            <a:ext cx="8280000" cy="292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300" spc="-1" strike="noStrike">
                <a:solidFill>
                  <a:srgbClr val="d9e6f2"/>
                </a:solidFill>
                <a:latin typeface="Arial"/>
              </a:rPr>
              <a:t>Borda Rojas y Castiglioni · Julio 2026</a:t>
            </a:r>
            <a:endParaRPr b="0" lang="en-US" sz="1300" spc="-1" strike="noStrike">
              <a:solidFill>
                <a:srgbClr val="d9e6f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Objetivo y arquitectura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4860000" y="792000"/>
            <a:ext cx="4500000" cy="306000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360000" y="900000"/>
            <a:ext cx="414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Pulsador: ciclo PATROL → STOP → DEPLOY → RETURN.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Potenciómetro: parámetro auxiliar 0–255.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LED y buzzer: realimentación local del modo.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UART: eventos, estado y datos con ACK y reintentos.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2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1 — Protocolo serie y parser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040000" y="828000"/>
            <a:ext cx="4140000" cy="288000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6840000" y="3780000"/>
            <a:ext cx="2340000" cy="126000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324000" y="900000"/>
            <a:ext cx="432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FSM incremental: consume un byte por vez.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Valida longitud, tipo, caracteres y checksum.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Resincroniza ante ruido, trama truncada o LL inconsistente.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67 tests de host cubren casos válidos y errores.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660000" y="5112000"/>
            <a:ext cx="2700000" cy="4194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100" spc="-1" strike="noStrike">
                <a:solidFill>
                  <a:srgbClr val="666666"/>
                </a:solidFill>
                <a:latin typeface="Arial"/>
              </a:rPr>
              <a:t>Placeholder Lucidchart — revisar/pulir antes de exponer</a:t>
            </a:r>
            <a:endParaRPr b="0" lang="en-US" sz="11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3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1 — Evidencia UART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120000" y="1080000"/>
            <a:ext cx="2520000" cy="252000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 txBox="1"/>
          <p:nvPr/>
        </p:nvSpPr>
        <p:spPr>
          <a:xfrm>
            <a:off x="6120000" y="3888000"/>
            <a:ext cx="2520000" cy="477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300" spc="-1" strike="noStrike">
                <a:solidFill>
                  <a:srgbClr val="666666"/>
                </a:solidFill>
                <a:latin typeface="Arial"/>
              </a:rPr>
              <a:t>Video integrado: ACK por UART</a:t>
            </a:r>
            <a:endParaRPr b="0" lang="en-US" sz="13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60000" y="1008000"/>
            <a:ext cx="5040000" cy="217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CMD:ping y CMD:mode=ESTOP → ACK:ok.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Tramas inválidas → ERR:bounds.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ACK detiene los reenvíos periódicos del EVT.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Video: evidencia/TPI_V3_Acknowledge.mp4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4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2 — Periféricos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120000" y="1080000"/>
            <a:ext cx="2520000" cy="2520000"/>
          </a:xfrm>
          <a:prstGeom prst="rect">
            <a:avLst/>
          </a:prstGeom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6120000" y="3888000"/>
            <a:ext cx="2520000" cy="477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300" spc="-1" strike="noStrike">
                <a:solidFill>
                  <a:srgbClr val="666666"/>
                </a:solidFill>
                <a:latin typeface="Arial"/>
              </a:rPr>
              <a:t>Video integrado: ADC, EXTI y FSM</a:t>
            </a:r>
            <a:endParaRPr b="0" lang="en-US" sz="13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24000" y="936000"/>
            <a:ext cx="522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ADC en PA0, muestreado cada 500 ms.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TIM2: PWM LED a 1 kHz.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TIM4: buzzer pasivo a 2 kHz.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EXTI1 + 50 ms: anti-rebote del pulsador.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Video: evidencia/TPI_V3_ADC_EXTI_FSM.mp4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5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3 — Caja de comandos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396000" y="792000"/>
            <a:ext cx="4536000" cy="2880000"/>
          </a:xfrm>
          <a:prstGeom prst="rect">
            <a:avLst/>
          </a:prstGeom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5220000" y="792000"/>
            <a:ext cx="4500000" cy="288000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 txBox="1"/>
          <p:nvPr/>
        </p:nvSpPr>
        <p:spPr>
          <a:xfrm>
            <a:off x="720000" y="4068000"/>
            <a:ext cx="8640000" cy="3765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Cada transición emite EVT + STS + DAT y actualiza la señalización local.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6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Confiabilidad: ACK, reintentos y timeout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5760000" y="900000"/>
            <a:ext cx="2700000" cy="3600000"/>
          </a:xfrm>
          <a:prstGeom prst="rect">
            <a:avLst/>
          </a:prstGeom>
          <a:ln w="0">
            <a:noFill/>
          </a:ln>
        </p:spPr>
      </p:pic>
      <p:sp>
        <p:nvSpPr>
          <p:cNvPr id="51" name=""/>
          <p:cNvSpPr txBox="1"/>
          <p:nvPr/>
        </p:nvSpPr>
        <p:spPr>
          <a:xfrm>
            <a:off x="324000" y="1008000"/>
            <a:ext cx="504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EVT pendiente durante 500 ms.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Hasta 5 reenvíos del mismo evento.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 los 3 s: ERR:timeout y la caja sigue operando.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ACK tardío limpia el pendiente.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Probado por tests, simulación y UART física.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7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Implementación FreeRTOS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5220000" y="864000"/>
            <a:ext cx="4320000" cy="2880000"/>
          </a:xfrm>
          <a:prstGeom prst="rect">
            <a:avLst/>
          </a:prstGeom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324000" y="972000"/>
            <a:ext cx="4680000" cy="2466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USART1 RX encola bytes.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EXTI1 arma el anti-rebote.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TIM3 aporta base de 1 ms.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task_rx_parser, task_app, task_signals y task_uart_tx.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Hooks de heap y stack para fallos diagnosticables.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8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Montaje y evidencia física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080000" y="756000"/>
            <a:ext cx="2160000" cy="37800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320000" y="936000"/>
            <a:ext cx="1980000" cy="34200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7020000" y="936000"/>
            <a:ext cx="1980000" cy="34200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 txBox="1"/>
          <p:nvPr/>
        </p:nvSpPr>
        <p:spPr>
          <a:xfrm>
            <a:off x="900000" y="4752000"/>
            <a:ext cx="8280000" cy="3340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202020"/>
                </a:solidFill>
                <a:latin typeface="Arial"/>
              </a:rPr>
              <a:t>Montaje · operación de periféricos · confirmación ACK</a:t>
            </a:r>
            <a:endParaRPr b="0" lang="en-US" sz="16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9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4 — Integración con el robot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5940000" y="936000"/>
            <a:ext cx="3060000" cy="2520000"/>
          </a:xfrm>
          <a:prstGeom prst="rect">
            <a:avLst/>
          </a:prstGeom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324000" y="1044000"/>
            <a:ext cx="522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Validado: firmware, UART, parser, periféricos y reintentos.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Pendiente de laboratorio: tópicos ROS 2 y latencia extremo a extremo.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No se fabrican mediciones del bridge o del robot.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La defensa puede demostrar el prototipo, las tramas y los videos.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10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Diagramas Lucidchart — placeholders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60000" y="828000"/>
            <a:ext cx="2736000" cy="180000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2"/>
          <a:stretch/>
        </p:blipFill>
        <p:spPr>
          <a:xfrm>
            <a:off x="3528000" y="828000"/>
            <a:ext cx="2736000" cy="180000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6696000" y="828000"/>
            <a:ext cx="2736000" cy="1800000"/>
          </a:xfrm>
          <a:prstGeom prst="rect">
            <a:avLst/>
          </a:prstGeom>
          <a:ln w="0">
            <a:noFill/>
          </a:ln>
        </p:spPr>
      </p:pic>
      <p:sp>
        <p:nvSpPr>
          <p:cNvPr id="79" name=""/>
          <p:cNvSpPr txBox="1"/>
          <p:nvPr/>
        </p:nvSpPr>
        <p:spPr>
          <a:xfrm>
            <a:off x="648000" y="4500000"/>
            <a:ext cx="8640000" cy="5598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202020"/>
                </a:solidFill>
                <a:latin typeface="Arial"/>
              </a:rPr>
              <a:t>Usarlos como apoyo narrativo; los diagramas propios y el código son la referencia técnica vigente.</a:t>
            </a:r>
            <a:endParaRPr b="0" lang="en-US" sz="16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11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Validación y calidad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5652000" y="864000"/>
            <a:ext cx="3420000" cy="2700000"/>
          </a:xfrm>
          <a:prstGeom prst="rect">
            <a:avLst/>
          </a:prstGeom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324000" y="1008000"/>
            <a:ext cx="504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67 tests de host: protocolo, parser, variante y señales.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CI: make test + compilación ARM + tamaño.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Simulación: bridge responde ACK o fuerza timeout.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Hardware: LED, buzzer, botón, ADC y UART.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120000" y="3888000"/>
            <a:ext cx="3240000" cy="4194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100" spc="-1" strike="noStrike">
                <a:solidFill>
                  <a:srgbClr val="666666"/>
                </a:solidFill>
                <a:latin typeface="Arial"/>
              </a:rPr>
              <a:t>Placeholder Lucidchart — consolidar versión final</a:t>
            </a:r>
            <a:endParaRPr b="0" lang="en-US" sz="11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12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Cierre y guion de demostración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48000" y="1008000"/>
            <a:ext cx="828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1. Presentar el montaje y el objetivo.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2. Pulsar: mostrar cambio de modo, LED, buzzer y tramas.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3. Mostrar ACK:ok y explicar la política de reintento.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4. Enviar una trama inválida y observar ERR:bounds.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5. Cerrar con tests/CI y alcance pendiente de ROS 2.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260000" y="4464000"/>
            <a:ext cx="7560000" cy="364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800" spc="-1" strike="noStrike">
                <a:solidFill>
                  <a:srgbClr val="17365d"/>
                </a:solidFill>
                <a:latin typeface="Arial"/>
              </a:rPr>
              <a:t>Repositorio: github.com/jiborjas/TPI-V3</a:t>
            </a:r>
            <a:endParaRPr b="0" lang="en-US" sz="18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13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1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¿Por qué byte a byte? La UART es un flujo sin alineación; la FSM no bloquea.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¿Tramas pegadas? LL delimita el cuerpo y permite volver a WAIT_START.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¿Checksum? XOR sobre LL:TTT:PAYLOAD; el encoder y parser calculan lo mismo.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¿LL inconsistente? Se informa ERR:bounds y se resincroniza ante un nuevo @.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48000" y="4500000"/>
            <a:ext cx="8640000" cy="3340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memoria acotada · validación de frontera · recuperación ante error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14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2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PWM: PSC=71 y ARR=999 → 1 kHz con reloj de timer a 72 MHz.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ADC: duty=(adc×100)/4095; en Variante 3 se usa param=(adc×255)/4095.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Timers: PSC y ARR son comunes a todos los canales; por eso LED y buzzer usan timers distintos.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PWM requiere salida alternativa push-pull (AF push-pull) en STM32F1.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48000" y="4500000"/>
            <a:ext cx="8640000" cy="3340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cálculos reproducibles · tipos enteros acotados · un timer por función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15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3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No hay superloop: ISR mínimas + tareas FreeRTOS con responsabilidades separadas.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Sin ACK: reenvío cada 500 ms, hasta 5 veces; a los 3 s se emite ERR:timeout.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Payloads numéricos: snprintf con ancho fijo (param=%03u, adc=%04u).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TIM2 LED, TIM4 buzzer, TIM3 base de 1 ms; SysTick para tiempos blandos.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48000" y="4500000"/>
            <a:ext cx="8640000" cy="5598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no bloquear ISR · colas entre contextos · degradación segura · estado local preservado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16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4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Tópicos: se identifican en laboratorio con ros2 topic list/echo; el firmware respeta el contrato de tramas.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Latencia: presupuesto local ≈60 ms; la medición extremo a extremo se declara pendiente.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Falla de bridge: recuperación automática con ACK tardío o ERR:timeout sin reset manual.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Extensión: nuevo EVT:cmd_* sin cambiar framing, checksum, parser ni política de ACK.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48000" y="4500000"/>
            <a:ext cx="8640000" cy="5598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no inventar mediciones · separar transporte de semántica · plan de verificación reproducible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17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Checklist para la defensa oral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96000" y="972000"/>
            <a:ext cx="9000000" cy="273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Mostrar cada pregunta obligatoria junto con la evidencia correspondiente.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Primero: diagrama + implementación; después: test, consola o video.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Distinguir claramente “validado en placa” de “pendiente de laboratorio”.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Cerrar con el repositorio, CI y la demostración en vivo del prototipo.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00000" y="4320000"/>
            <a:ext cx="8280000" cy="6447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1" lang="en-US" sz="1900" spc="-1" strike="noStrike">
                <a:solidFill>
                  <a:srgbClr val="17365d"/>
                </a:solidFill>
                <a:latin typeface="Arial"/>
              </a:rPr>
              <a:t>Resultado: trazabilidad entre enunciado, código, pruebas y evidencia física.</a:t>
            </a:r>
            <a:endParaRPr b="1" lang="en-US" sz="19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18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2026-07-15T12:36:21Z</dcterms:created>
  <dc:creator/>
  <dc:description/>
  <dc:language>en-US</dc:language>
  <cp:lastModifiedBy/>
  <dcterms:modified xsi:type="dcterms:W3CDTF">2026-07-15T12:36:25Z</dcterms:modified>
  <cp:revision>1</cp:revision>
  <dc:subject/>
  <dc:title/>
</cp:coreProperties>
</file>